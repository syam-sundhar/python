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12192000"/>
  <p:notesSz cx="6858000" cy="9144000"/>
  <p:embeddedFontLst>
    <p:embeddedFont>
      <p:font typeface="Montserrat"/>
      <p:regular r:id="rId29"/>
      <p:bold r:id="rId30"/>
      <p:italic r:id="rId31"/>
      <p:boldItalic r:id="rId32"/>
    </p:embeddedFont>
    <p:embeddedFont>
      <p:font typeface="Fira Sans Medium"/>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65">
          <p15:clr>
            <a:srgbClr val="A4A3A4"/>
          </p15:clr>
        </p15:guide>
        <p15:guide id="2" pos="7015">
          <p15:clr>
            <a:srgbClr val="A4A3A4"/>
          </p15:clr>
        </p15:guide>
        <p15:guide id="3" orient="horz" pos="346">
          <p15:clr>
            <a:srgbClr val="A4A3A4"/>
          </p15:clr>
        </p15:guide>
        <p15:guide id="4" orient="horz" pos="3974">
          <p15:clr>
            <a:srgbClr val="A4A3A4"/>
          </p15:clr>
        </p15:guide>
      </p15:sldGuideLst>
    </p:ext>
    <p:ext uri="GoogleSlidesCustomDataVersion2">
      <go:slidesCustomData xmlns:go="http://customooxmlschemas.google.com/" r:id="rId37" roundtripDataSignature="AMtx7mjnipLJWP+W/Wzo73xhOEgrKnF72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65"/>
        <p:guide pos="7015"/>
        <p:guide pos="346" orient="horz"/>
        <p:guide pos="3974"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italic.fntdata"/><Relationship Id="rId30" Type="http://schemas.openxmlformats.org/officeDocument/2006/relationships/font" Target="fonts/Montserrat-bold.fntdata"/><Relationship Id="rId11" Type="http://schemas.openxmlformats.org/officeDocument/2006/relationships/slide" Target="slides/slide6.xml"/><Relationship Id="rId33" Type="http://schemas.openxmlformats.org/officeDocument/2006/relationships/font" Target="fonts/FiraSansMedium-regular.fntdata"/><Relationship Id="rId10" Type="http://schemas.openxmlformats.org/officeDocument/2006/relationships/slide" Target="slides/slide5.xml"/><Relationship Id="rId32" Type="http://schemas.openxmlformats.org/officeDocument/2006/relationships/font" Target="fonts/Montserrat-boldItalic.fntdata"/><Relationship Id="rId13" Type="http://schemas.openxmlformats.org/officeDocument/2006/relationships/slide" Target="slides/slide8.xml"/><Relationship Id="rId35" Type="http://schemas.openxmlformats.org/officeDocument/2006/relationships/font" Target="fonts/FiraSansMedium-italic.fntdata"/><Relationship Id="rId12" Type="http://schemas.openxmlformats.org/officeDocument/2006/relationships/slide" Target="slides/slide7.xml"/><Relationship Id="rId34" Type="http://schemas.openxmlformats.org/officeDocument/2006/relationships/font" Target="fonts/FiraSansMedium-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FiraSansMedium-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 name="Google Shape;10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f0967dc89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2f0967dc89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f0967dc895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2f0967dc895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f0967dc895_0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g2f0967dc895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7fe1aec3a5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27fe1aec3a5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7fe1aec3a5_0_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g27fe1aec3a5_0_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f0967dc895_0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g2f0967dc895_0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7fe1aec3a5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g27fe1aec3a5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7fe1aec3a5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27fe1aec3a5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7fe1aec3a5_0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g27fe1aec3a5_0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7fe1aec3a5_0_1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g27fe1aec3a5_0_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7fe1aec3a5_0_1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g27fe1aec3a5_0_1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7fe1aec3a5_0_1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g27fe1aec3a5_0_1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7fe1aec3a5_0_1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g27fe1aec3a5_0_1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7fe1aec3a5_0_2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27fe1aec3a5_0_2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f0967dc895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7" name="Google Shape;297;g2f0967dc895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f0967dc895_0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g2f0967dc895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f0967dc895_0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9" name="Google Shape;339;g2f0967dc895_0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f0967dc895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g2f0967dc895_0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4" name="Google Shape;36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9" name="Google Shape;36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Blank" type="blank">
  <p:cSld name="BLANK">
    <p:spTree>
      <p:nvGrpSpPr>
        <p:cNvPr id="11" name="Shape 11"/>
        <p:cNvGrpSpPr/>
        <p:nvPr/>
      </p:nvGrpSpPr>
      <p:grpSpPr>
        <a:xfrm>
          <a:off x="0" y="0"/>
          <a:ext cx="0" cy="0"/>
          <a:chOff x="0" y="0"/>
          <a:chExt cx="0" cy="0"/>
        </a:xfrm>
      </p:grpSpPr>
      <p:pic>
        <p:nvPicPr>
          <p:cNvPr id="12" name="Google Shape;12;p14"/>
          <p:cNvPicPr preferRelativeResize="0"/>
          <p:nvPr/>
        </p:nvPicPr>
        <p:blipFill rotWithShape="1">
          <a:blip r:embed="rId2">
            <a:alphaModFix/>
          </a:blip>
          <a:srcRect b="0" l="0" r="0" t="0"/>
          <a:stretch/>
        </p:blipFill>
        <p:spPr>
          <a:xfrm>
            <a:off x="0" y="0"/>
            <a:ext cx="12191999" cy="6858000"/>
          </a:xfrm>
          <a:prstGeom prst="rect">
            <a:avLst/>
          </a:prstGeom>
          <a:noFill/>
          <a:ln>
            <a:noFill/>
          </a:ln>
        </p:spPr>
      </p:pic>
      <p:pic>
        <p:nvPicPr>
          <p:cNvPr id="13" name="Google Shape;13;p14"/>
          <p:cNvPicPr preferRelativeResize="0"/>
          <p:nvPr/>
        </p:nvPicPr>
        <p:blipFill rotWithShape="1">
          <a:blip r:embed="rId3">
            <a:alphaModFix/>
          </a:blip>
          <a:srcRect b="0" l="0" r="0" t="0"/>
          <a:stretch/>
        </p:blipFill>
        <p:spPr>
          <a:xfrm>
            <a:off x="10504633" y="159813"/>
            <a:ext cx="1369867" cy="47418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15"/>
          <p:cNvSpPr/>
          <p:nvPr/>
        </p:nvSpPr>
        <p:spPr>
          <a:xfrm>
            <a:off x="0" y="0"/>
            <a:ext cx="6096000" cy="6858000"/>
          </a:xfrm>
          <a:prstGeom prst="roundRect">
            <a:avLst>
              <a:gd fmla="val 0" name="adj"/>
            </a:avLst>
          </a:prstGeom>
          <a:solidFill>
            <a:srgbClr val="685ABA"/>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6" name="Google Shape;16;p15"/>
          <p:cNvPicPr preferRelativeResize="0"/>
          <p:nvPr/>
        </p:nvPicPr>
        <p:blipFill rotWithShape="1">
          <a:blip r:embed="rId2">
            <a:alphaModFix/>
          </a:blip>
          <a:srcRect b="0" l="0" r="0" t="0"/>
          <a:stretch/>
        </p:blipFill>
        <p:spPr>
          <a:xfrm>
            <a:off x="10504633" y="158809"/>
            <a:ext cx="1369867" cy="476192"/>
          </a:xfrm>
          <a:prstGeom prst="rect">
            <a:avLst/>
          </a:prstGeom>
          <a:noFill/>
          <a:ln>
            <a:noFill/>
          </a:ln>
        </p:spPr>
      </p:pic>
      <p:sp>
        <p:nvSpPr>
          <p:cNvPr id="17" name="Google Shape;17;p15"/>
          <p:cNvSpPr txBox="1"/>
          <p:nvPr/>
        </p:nvSpPr>
        <p:spPr>
          <a:xfrm>
            <a:off x="1638300" y="2940963"/>
            <a:ext cx="28194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chemeClr val="lt1"/>
                </a:solidFill>
                <a:latin typeface="Montserrat"/>
                <a:ea typeface="Montserrat"/>
                <a:cs typeface="Montserrat"/>
                <a:sym typeface="Montserrat"/>
              </a:rPr>
              <a:t>Agenda</a:t>
            </a:r>
            <a:endParaRPr b="1" i="0" sz="4800" u="none" cap="none" strike="noStrike">
              <a:solidFill>
                <a:schemeClr val="lt1"/>
              </a:solidFill>
              <a:latin typeface="Montserrat"/>
              <a:ea typeface="Montserrat"/>
              <a:cs typeface="Montserrat"/>
              <a:sym typeface="Montserrat"/>
            </a:endParaRPr>
          </a:p>
        </p:txBody>
      </p:sp>
      <p:sp>
        <p:nvSpPr>
          <p:cNvPr id="18" name="Google Shape;18;p15"/>
          <p:cNvSpPr txBox="1"/>
          <p:nvPr/>
        </p:nvSpPr>
        <p:spPr>
          <a:xfrm>
            <a:off x="9239250" y="6564154"/>
            <a:ext cx="291465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7F7F7F"/>
                </a:solidFill>
                <a:latin typeface="Montserrat"/>
                <a:ea typeface="Montserrat"/>
                <a:cs typeface="Montserrat"/>
                <a:sym typeface="Montserrat"/>
              </a:rPr>
              <a:t>© Copyright Intellipaat. All rights reserved.</a:t>
            </a:r>
            <a:endParaRPr b="0" i="0" sz="1000" u="none" cap="none" strike="noStrike">
              <a:solidFill>
                <a:srgbClr val="7F7F7F"/>
              </a:solidFill>
              <a:latin typeface="Montserrat"/>
              <a:ea typeface="Montserrat"/>
              <a:cs typeface="Montserrat"/>
              <a:sym typeface="Montserra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19" name="Shape 19"/>
        <p:cNvGrpSpPr/>
        <p:nvPr/>
      </p:nvGrpSpPr>
      <p:grpSpPr>
        <a:xfrm>
          <a:off x="0" y="0"/>
          <a:ext cx="0" cy="0"/>
          <a:chOff x="0" y="0"/>
          <a:chExt cx="0" cy="0"/>
        </a:xfrm>
      </p:grpSpPr>
      <p:sp>
        <p:nvSpPr>
          <p:cNvPr id="20" name="Google Shape;20;p16"/>
          <p:cNvSpPr/>
          <p:nvPr/>
        </p:nvSpPr>
        <p:spPr>
          <a:xfrm>
            <a:off x="0" y="0"/>
            <a:ext cx="12192000" cy="6858000"/>
          </a:xfrm>
          <a:prstGeom prst="roundRect">
            <a:avLst>
              <a:gd fmla="val 0" name="adj"/>
            </a:avLst>
          </a:prstGeom>
          <a:solidFill>
            <a:srgbClr val="685A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 name="Google Shape;21;p16"/>
          <p:cNvSpPr txBox="1"/>
          <p:nvPr/>
        </p:nvSpPr>
        <p:spPr>
          <a:xfrm>
            <a:off x="9239250" y="6564154"/>
            <a:ext cx="291465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Montserrat"/>
                <a:ea typeface="Montserrat"/>
                <a:cs typeface="Montserrat"/>
                <a:sym typeface="Montserrat"/>
              </a:rPr>
              <a:t>© Copyright Intellipaat. All rights reserved.</a:t>
            </a:r>
            <a:endParaRPr b="0" i="0" sz="1000" u="none" cap="none" strike="noStrike">
              <a:solidFill>
                <a:schemeClr val="lt1"/>
              </a:solidFill>
              <a:latin typeface="Montserrat"/>
              <a:ea typeface="Montserrat"/>
              <a:cs typeface="Montserrat"/>
              <a:sym typeface="Montserrat"/>
            </a:endParaRPr>
          </a:p>
        </p:txBody>
      </p:sp>
      <p:pic>
        <p:nvPicPr>
          <p:cNvPr id="22" name="Google Shape;22;p16"/>
          <p:cNvPicPr preferRelativeResize="0"/>
          <p:nvPr/>
        </p:nvPicPr>
        <p:blipFill rotWithShape="1">
          <a:blip r:embed="rId2">
            <a:alphaModFix/>
          </a:blip>
          <a:srcRect b="0" l="0" r="0" t="0"/>
          <a:stretch/>
        </p:blipFill>
        <p:spPr>
          <a:xfrm>
            <a:off x="10504633" y="159813"/>
            <a:ext cx="1369867" cy="47418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Blank">
  <p:cSld name="4_Blank">
    <p:spTree>
      <p:nvGrpSpPr>
        <p:cNvPr id="23" name="Shape 23"/>
        <p:cNvGrpSpPr/>
        <p:nvPr/>
      </p:nvGrpSpPr>
      <p:grpSpPr>
        <a:xfrm>
          <a:off x="0" y="0"/>
          <a:ext cx="0" cy="0"/>
          <a:chOff x="0" y="0"/>
          <a:chExt cx="0" cy="0"/>
        </a:xfrm>
      </p:grpSpPr>
      <p:sp>
        <p:nvSpPr>
          <p:cNvPr id="24" name="Google Shape;24;p17"/>
          <p:cNvSpPr txBox="1"/>
          <p:nvPr/>
        </p:nvSpPr>
        <p:spPr>
          <a:xfrm>
            <a:off x="9239250" y="6564154"/>
            <a:ext cx="291465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7F7F7F"/>
                </a:solidFill>
                <a:latin typeface="Montserrat"/>
                <a:ea typeface="Montserrat"/>
                <a:cs typeface="Montserrat"/>
                <a:sym typeface="Montserrat"/>
              </a:rPr>
              <a:t>© Copyright Intellipaat. All rights reserved.</a:t>
            </a:r>
            <a:endParaRPr b="0" i="0" sz="1000" u="none" cap="none" strike="noStrike">
              <a:solidFill>
                <a:srgbClr val="7F7F7F"/>
              </a:solidFill>
              <a:latin typeface="Montserrat"/>
              <a:ea typeface="Montserrat"/>
              <a:cs typeface="Montserrat"/>
              <a:sym typeface="Montserrat"/>
            </a:endParaRPr>
          </a:p>
        </p:txBody>
      </p:sp>
      <p:pic>
        <p:nvPicPr>
          <p:cNvPr id="25" name="Google Shape;25;p17"/>
          <p:cNvPicPr preferRelativeResize="0"/>
          <p:nvPr/>
        </p:nvPicPr>
        <p:blipFill rotWithShape="1">
          <a:blip r:embed="rId2">
            <a:alphaModFix/>
          </a:blip>
          <a:srcRect b="0" l="0" r="0" t="0"/>
          <a:stretch/>
        </p:blipFill>
        <p:spPr>
          <a:xfrm>
            <a:off x="0" y="0"/>
            <a:ext cx="123824" cy="707231"/>
          </a:xfrm>
          <a:prstGeom prst="rect">
            <a:avLst/>
          </a:prstGeom>
          <a:noFill/>
          <a:ln>
            <a:noFill/>
          </a:ln>
        </p:spPr>
      </p:pic>
      <p:pic>
        <p:nvPicPr>
          <p:cNvPr id="26" name="Google Shape;26;p17"/>
          <p:cNvPicPr preferRelativeResize="0"/>
          <p:nvPr/>
        </p:nvPicPr>
        <p:blipFill rotWithShape="1">
          <a:blip r:embed="rId3">
            <a:alphaModFix/>
          </a:blip>
          <a:srcRect b="0" l="0" r="0" t="0"/>
          <a:stretch/>
        </p:blipFill>
        <p:spPr>
          <a:xfrm>
            <a:off x="10504633" y="158809"/>
            <a:ext cx="1369867" cy="47619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Section Header">
  <p:cSld name="4_Section Header">
    <p:spTree>
      <p:nvGrpSpPr>
        <p:cNvPr id="27" name="Shape 27"/>
        <p:cNvGrpSpPr/>
        <p:nvPr/>
      </p:nvGrpSpPr>
      <p:grpSpPr>
        <a:xfrm>
          <a:off x="0" y="0"/>
          <a:ext cx="0" cy="0"/>
          <a:chOff x="0" y="0"/>
          <a:chExt cx="0" cy="0"/>
        </a:xfrm>
      </p:grpSpPr>
      <p:pic>
        <p:nvPicPr>
          <p:cNvPr id="28" name="Google Shape;28;p18"/>
          <p:cNvPicPr preferRelativeResize="0"/>
          <p:nvPr/>
        </p:nvPicPr>
        <p:blipFill rotWithShape="1">
          <a:blip r:embed="rId2">
            <a:alphaModFix/>
          </a:blip>
          <a:srcRect b="0" l="0" r="0" t="0"/>
          <a:stretch/>
        </p:blipFill>
        <p:spPr>
          <a:xfrm>
            <a:off x="10504633" y="158809"/>
            <a:ext cx="1369867" cy="476192"/>
          </a:xfrm>
          <a:prstGeom prst="rect">
            <a:avLst/>
          </a:prstGeom>
          <a:noFill/>
          <a:ln>
            <a:noFill/>
          </a:ln>
        </p:spPr>
      </p:pic>
      <p:sp>
        <p:nvSpPr>
          <p:cNvPr id="29" name="Google Shape;29;p18"/>
          <p:cNvSpPr txBox="1"/>
          <p:nvPr/>
        </p:nvSpPr>
        <p:spPr>
          <a:xfrm>
            <a:off x="9239250" y="6564154"/>
            <a:ext cx="291465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Montserrat"/>
                <a:ea typeface="Montserrat"/>
                <a:cs typeface="Montserrat"/>
                <a:sym typeface="Montserrat"/>
              </a:rPr>
              <a:t>© Copyright Intellipaat. All rights reserved.</a:t>
            </a:r>
            <a:endParaRPr b="0" i="0" sz="1000" u="none" cap="none" strike="noStrike">
              <a:solidFill>
                <a:schemeClr val="lt1"/>
              </a:solidFill>
              <a:latin typeface="Montserrat"/>
              <a:ea typeface="Montserrat"/>
              <a:cs typeface="Montserrat"/>
              <a:sym typeface="Montserra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ction Header">
  <p:cSld name="2_Section Header">
    <p:spTree>
      <p:nvGrpSpPr>
        <p:cNvPr id="30" name="Shape 30"/>
        <p:cNvGrpSpPr/>
        <p:nvPr/>
      </p:nvGrpSpPr>
      <p:grpSpPr>
        <a:xfrm>
          <a:off x="0" y="0"/>
          <a:ext cx="0" cy="0"/>
          <a:chOff x="0" y="0"/>
          <a:chExt cx="0" cy="0"/>
        </a:xfrm>
      </p:grpSpPr>
      <p:sp>
        <p:nvSpPr>
          <p:cNvPr id="31" name="Google Shape;31;p19"/>
          <p:cNvSpPr/>
          <p:nvPr/>
        </p:nvSpPr>
        <p:spPr>
          <a:xfrm>
            <a:off x="6096000" y="0"/>
            <a:ext cx="6096000" cy="6858000"/>
          </a:xfrm>
          <a:prstGeom prst="roundRect">
            <a:avLst>
              <a:gd fmla="val 0" name="adj"/>
            </a:avLst>
          </a:prstGeom>
          <a:solidFill>
            <a:srgbClr val="685A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 name="Google Shape;32;p19"/>
          <p:cNvSpPr txBox="1"/>
          <p:nvPr/>
        </p:nvSpPr>
        <p:spPr>
          <a:xfrm>
            <a:off x="923925" y="3242292"/>
            <a:ext cx="4248150"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675AB9"/>
                </a:solidFill>
                <a:latin typeface="Montserrat"/>
                <a:ea typeface="Montserrat"/>
                <a:cs typeface="Montserrat"/>
                <a:sym typeface="Montserrat"/>
              </a:rPr>
              <a:t>Contact Us</a:t>
            </a:r>
            <a:endParaRPr b="1" i="0" sz="4800" u="none" cap="none" strike="noStrike">
              <a:solidFill>
                <a:srgbClr val="675AB9"/>
              </a:solidFill>
              <a:latin typeface="Montserrat"/>
              <a:ea typeface="Montserrat"/>
              <a:cs typeface="Montserrat"/>
              <a:sym typeface="Montserrat"/>
            </a:endParaRPr>
          </a:p>
        </p:txBody>
      </p:sp>
      <p:pic>
        <p:nvPicPr>
          <p:cNvPr id="33" name="Google Shape;33;p19"/>
          <p:cNvPicPr preferRelativeResize="0"/>
          <p:nvPr/>
        </p:nvPicPr>
        <p:blipFill rotWithShape="1">
          <a:blip r:embed="rId2">
            <a:alphaModFix/>
          </a:blip>
          <a:srcRect b="0" l="0" r="0" t="0"/>
          <a:stretch/>
        </p:blipFill>
        <p:spPr>
          <a:xfrm>
            <a:off x="7873671" y="3774779"/>
            <a:ext cx="382346" cy="383488"/>
          </a:xfrm>
          <a:prstGeom prst="rect">
            <a:avLst/>
          </a:prstGeom>
          <a:noFill/>
          <a:ln>
            <a:noFill/>
          </a:ln>
        </p:spPr>
      </p:pic>
      <p:pic>
        <p:nvPicPr>
          <p:cNvPr id="34" name="Google Shape;34;p19"/>
          <p:cNvPicPr preferRelativeResize="0"/>
          <p:nvPr/>
        </p:nvPicPr>
        <p:blipFill rotWithShape="1">
          <a:blip r:embed="rId3">
            <a:alphaModFix/>
          </a:blip>
          <a:srcRect b="0" l="0" r="0" t="0"/>
          <a:stretch/>
        </p:blipFill>
        <p:spPr>
          <a:xfrm>
            <a:off x="7869616" y="3229279"/>
            <a:ext cx="370934" cy="372076"/>
          </a:xfrm>
          <a:prstGeom prst="rect">
            <a:avLst/>
          </a:prstGeom>
          <a:noFill/>
          <a:ln>
            <a:noFill/>
          </a:ln>
        </p:spPr>
      </p:pic>
      <p:sp>
        <p:nvSpPr>
          <p:cNvPr id="35" name="Google Shape;35;p19"/>
          <p:cNvSpPr txBox="1"/>
          <p:nvPr/>
        </p:nvSpPr>
        <p:spPr>
          <a:xfrm>
            <a:off x="8354092" y="3261428"/>
            <a:ext cx="176212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Montserrat"/>
                <a:ea typeface="Montserrat"/>
                <a:cs typeface="Montserrat"/>
                <a:sym typeface="Montserrat"/>
              </a:rPr>
              <a:t>080-4524-9465</a:t>
            </a:r>
            <a:endParaRPr b="0" i="0" sz="1400" u="none" cap="none" strike="noStrike">
              <a:solidFill>
                <a:schemeClr val="lt1"/>
              </a:solidFill>
              <a:latin typeface="Montserrat"/>
              <a:ea typeface="Montserrat"/>
              <a:cs typeface="Montserrat"/>
              <a:sym typeface="Montserrat"/>
            </a:endParaRPr>
          </a:p>
        </p:txBody>
      </p:sp>
      <p:sp>
        <p:nvSpPr>
          <p:cNvPr id="36" name="Google Shape;36;p19"/>
          <p:cNvSpPr txBox="1"/>
          <p:nvPr/>
        </p:nvSpPr>
        <p:spPr>
          <a:xfrm>
            <a:off x="8354092" y="3811359"/>
            <a:ext cx="242887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Montserrat"/>
                <a:ea typeface="Montserrat"/>
                <a:cs typeface="Montserrat"/>
                <a:sym typeface="Montserrat"/>
              </a:rPr>
              <a:t>support@intellipaat.com</a:t>
            </a:r>
            <a:endParaRPr b="0" i="0" sz="1400" u="none" cap="none" strike="noStrike">
              <a:solidFill>
                <a:schemeClr val="lt1"/>
              </a:solidFill>
              <a:latin typeface="Montserrat"/>
              <a:ea typeface="Montserrat"/>
              <a:cs typeface="Montserrat"/>
              <a:sym typeface="Montserrat"/>
            </a:endParaRPr>
          </a:p>
        </p:txBody>
      </p:sp>
      <p:sp>
        <p:nvSpPr>
          <p:cNvPr id="37" name="Google Shape;37;p19"/>
          <p:cNvSpPr txBox="1"/>
          <p:nvPr/>
        </p:nvSpPr>
        <p:spPr>
          <a:xfrm>
            <a:off x="9239250" y="6564154"/>
            <a:ext cx="291465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Montserrat"/>
                <a:ea typeface="Montserrat"/>
                <a:cs typeface="Montserrat"/>
                <a:sym typeface="Montserrat"/>
              </a:rPr>
              <a:t>© Copyright Intellipaat. All rights reserved.</a:t>
            </a:r>
            <a:endParaRPr b="0" i="0" sz="1000" u="none" cap="none" strike="noStrike">
              <a:solidFill>
                <a:schemeClr val="lt1"/>
              </a:solidFill>
              <a:latin typeface="Montserrat"/>
              <a:ea typeface="Montserrat"/>
              <a:cs typeface="Montserrat"/>
              <a:sym typeface="Montserrat"/>
            </a:endParaRPr>
          </a:p>
        </p:txBody>
      </p:sp>
      <p:pic>
        <p:nvPicPr>
          <p:cNvPr id="38" name="Google Shape;38;p19"/>
          <p:cNvPicPr preferRelativeResize="0"/>
          <p:nvPr/>
        </p:nvPicPr>
        <p:blipFill rotWithShape="1">
          <a:blip r:embed="rId4">
            <a:alphaModFix/>
          </a:blip>
          <a:srcRect b="0" l="0" r="0" t="0"/>
          <a:stretch/>
        </p:blipFill>
        <p:spPr>
          <a:xfrm>
            <a:off x="10504633" y="159813"/>
            <a:ext cx="1369867" cy="474184"/>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ction Header">
  <p:cSld name="3_Section Header">
    <p:spTree>
      <p:nvGrpSpPr>
        <p:cNvPr id="39" name="Shape 39"/>
        <p:cNvGrpSpPr/>
        <p:nvPr/>
      </p:nvGrpSpPr>
      <p:grpSpPr>
        <a:xfrm>
          <a:off x="0" y="0"/>
          <a:ext cx="0" cy="0"/>
          <a:chOff x="0" y="0"/>
          <a:chExt cx="0" cy="0"/>
        </a:xfrm>
      </p:grpSpPr>
      <p:sp>
        <p:nvSpPr>
          <p:cNvPr id="40" name="Google Shape;40;p20"/>
          <p:cNvSpPr/>
          <p:nvPr/>
        </p:nvSpPr>
        <p:spPr>
          <a:xfrm>
            <a:off x="0" y="0"/>
            <a:ext cx="12192000" cy="6858000"/>
          </a:xfrm>
          <a:prstGeom prst="roundRect">
            <a:avLst>
              <a:gd fmla="val 0" name="adj"/>
            </a:avLst>
          </a:prstGeom>
          <a:solidFill>
            <a:srgbClr val="FF9F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 name="Google Shape;41;p20"/>
          <p:cNvSpPr txBox="1"/>
          <p:nvPr/>
        </p:nvSpPr>
        <p:spPr>
          <a:xfrm>
            <a:off x="9239250" y="6564154"/>
            <a:ext cx="291465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Montserrat"/>
                <a:ea typeface="Montserrat"/>
                <a:cs typeface="Montserrat"/>
                <a:sym typeface="Montserrat"/>
              </a:rPr>
              <a:t>© Copyright Intellipaat. All rights reserved.</a:t>
            </a:r>
            <a:endParaRPr b="0" i="0" sz="1000" u="none" cap="none" strike="noStrike">
              <a:solidFill>
                <a:schemeClr val="lt1"/>
              </a:solidFill>
              <a:latin typeface="Montserrat"/>
              <a:ea typeface="Montserrat"/>
              <a:cs typeface="Montserrat"/>
              <a:sym typeface="Montserrat"/>
            </a:endParaRPr>
          </a:p>
        </p:txBody>
      </p:sp>
      <p:pic>
        <p:nvPicPr>
          <p:cNvPr id="42" name="Google Shape;42;p20"/>
          <p:cNvPicPr preferRelativeResize="0"/>
          <p:nvPr/>
        </p:nvPicPr>
        <p:blipFill rotWithShape="1">
          <a:blip r:embed="rId2">
            <a:alphaModFix/>
          </a:blip>
          <a:srcRect b="0" l="0" r="0" t="0"/>
          <a:stretch/>
        </p:blipFill>
        <p:spPr>
          <a:xfrm>
            <a:off x="10504633" y="159813"/>
            <a:ext cx="1369867" cy="47418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Blank">
  <p:cSld name="7_Blank">
    <p:spTree>
      <p:nvGrpSpPr>
        <p:cNvPr id="43" name="Shape 43"/>
        <p:cNvGrpSpPr/>
        <p:nvPr/>
      </p:nvGrpSpPr>
      <p:grpSpPr>
        <a:xfrm>
          <a:off x="0" y="0"/>
          <a:ext cx="0" cy="0"/>
          <a:chOff x="0" y="0"/>
          <a:chExt cx="0" cy="0"/>
        </a:xfrm>
      </p:grpSpPr>
      <p:sp>
        <p:nvSpPr>
          <p:cNvPr id="44" name="Google Shape;44;p21"/>
          <p:cNvSpPr txBox="1"/>
          <p:nvPr/>
        </p:nvSpPr>
        <p:spPr>
          <a:xfrm>
            <a:off x="9239250" y="6564154"/>
            <a:ext cx="291465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7F7F7F"/>
                </a:solidFill>
                <a:latin typeface="Montserrat"/>
                <a:ea typeface="Montserrat"/>
                <a:cs typeface="Montserrat"/>
                <a:sym typeface="Montserrat"/>
              </a:rPr>
              <a:t>© Copyright Intellipaat. All rights reserved.</a:t>
            </a:r>
            <a:endParaRPr b="0" i="0" sz="1000" u="none" cap="none" strike="noStrike">
              <a:solidFill>
                <a:srgbClr val="7F7F7F"/>
              </a:solidFill>
              <a:latin typeface="Montserrat"/>
              <a:ea typeface="Montserrat"/>
              <a:cs typeface="Montserrat"/>
              <a:sym typeface="Montserrat"/>
            </a:endParaRPr>
          </a:p>
        </p:txBody>
      </p:sp>
      <p:pic>
        <p:nvPicPr>
          <p:cNvPr id="45" name="Google Shape;45;p21"/>
          <p:cNvPicPr preferRelativeResize="0"/>
          <p:nvPr/>
        </p:nvPicPr>
        <p:blipFill rotWithShape="1">
          <a:blip r:embed="rId2">
            <a:alphaModFix/>
          </a:blip>
          <a:srcRect b="0" l="0" r="0" t="0"/>
          <a:stretch/>
        </p:blipFill>
        <p:spPr>
          <a:xfrm>
            <a:off x="10504633" y="158809"/>
            <a:ext cx="1369867" cy="476192"/>
          </a:xfrm>
          <a:prstGeom prst="rect">
            <a:avLst/>
          </a:prstGeom>
          <a:noFill/>
          <a:ln>
            <a:noFill/>
          </a:ln>
        </p:spPr>
      </p:pic>
      <p:sp>
        <p:nvSpPr>
          <p:cNvPr id="46" name="Google Shape;46;p21"/>
          <p:cNvSpPr/>
          <p:nvPr/>
        </p:nvSpPr>
        <p:spPr>
          <a:xfrm>
            <a:off x="0" y="0"/>
            <a:ext cx="123824" cy="700755"/>
          </a:xfrm>
          <a:prstGeom prst="rect">
            <a:avLst/>
          </a:prstGeom>
          <a:solidFill>
            <a:srgbClr val="FF8B3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7" name="Shape 47"/>
        <p:cNvGrpSpPr/>
        <p:nvPr/>
      </p:nvGrpSpPr>
      <p:grpSpPr>
        <a:xfrm>
          <a:off x="0" y="0"/>
          <a:ext cx="0" cy="0"/>
          <a:chOff x="0" y="0"/>
          <a:chExt cx="0" cy="0"/>
        </a:xfrm>
      </p:grpSpPr>
      <p:sp>
        <p:nvSpPr>
          <p:cNvPr id="48" name="Google Shape;48;p22"/>
          <p:cNvSpPr txBox="1"/>
          <p:nvPr/>
        </p:nvSpPr>
        <p:spPr>
          <a:xfrm>
            <a:off x="9239250" y="6564154"/>
            <a:ext cx="291465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7F7F7F"/>
                </a:solidFill>
                <a:latin typeface="Montserrat"/>
                <a:ea typeface="Montserrat"/>
                <a:cs typeface="Montserrat"/>
                <a:sym typeface="Montserrat"/>
              </a:rPr>
              <a:t>© Copyright Intellipaat. All rights reserved.</a:t>
            </a:r>
            <a:endParaRPr b="0" i="0" sz="1000" u="none" cap="none" strike="noStrike">
              <a:solidFill>
                <a:srgbClr val="7F7F7F"/>
              </a:solidFill>
              <a:latin typeface="Montserrat"/>
              <a:ea typeface="Montserrat"/>
              <a:cs typeface="Montserrat"/>
              <a:sym typeface="Montserrat"/>
            </a:endParaRPr>
          </a:p>
        </p:txBody>
      </p:sp>
      <p:pic>
        <p:nvPicPr>
          <p:cNvPr id="49" name="Google Shape;49;p22"/>
          <p:cNvPicPr preferRelativeResize="0"/>
          <p:nvPr/>
        </p:nvPicPr>
        <p:blipFill rotWithShape="1">
          <a:blip r:embed="rId2">
            <a:alphaModFix/>
          </a:blip>
          <a:srcRect b="0" l="0" r="0" t="0"/>
          <a:stretch/>
        </p:blipFill>
        <p:spPr>
          <a:xfrm>
            <a:off x="10504633" y="158809"/>
            <a:ext cx="1369867" cy="476192"/>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50" name="Shape 50"/>
        <p:cNvGrpSpPr/>
        <p:nvPr/>
      </p:nvGrpSpPr>
      <p:grpSpPr>
        <a:xfrm>
          <a:off x="0" y="0"/>
          <a:ext cx="0" cy="0"/>
          <a:chOff x="0" y="0"/>
          <a:chExt cx="0" cy="0"/>
        </a:xfrm>
      </p:grpSpPr>
      <p:sp>
        <p:nvSpPr>
          <p:cNvPr id="51" name="Google Shape;51;p23"/>
          <p:cNvSpPr txBox="1"/>
          <p:nvPr/>
        </p:nvSpPr>
        <p:spPr>
          <a:xfrm>
            <a:off x="9239250" y="6564154"/>
            <a:ext cx="291465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7F7F7F"/>
                </a:solidFill>
                <a:latin typeface="Montserrat"/>
                <a:ea typeface="Montserrat"/>
                <a:cs typeface="Montserrat"/>
                <a:sym typeface="Montserrat"/>
              </a:rPr>
              <a:t>© Copyright Intellipaat. All rights reserved.</a:t>
            </a:r>
            <a:endParaRPr b="0" i="0" sz="1000" u="none" cap="none" strike="noStrike">
              <a:solidFill>
                <a:srgbClr val="7F7F7F"/>
              </a:solidFill>
              <a:latin typeface="Montserrat"/>
              <a:ea typeface="Montserrat"/>
              <a:cs typeface="Montserrat"/>
              <a:sym typeface="Montserrat"/>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p:cSld name="2_Blank">
    <p:spTree>
      <p:nvGrpSpPr>
        <p:cNvPr id="52" name="Shape 5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lank">
  <p:cSld name="3_Blank">
    <p:spTree>
      <p:nvGrpSpPr>
        <p:cNvPr id="53" name="Shape 53"/>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4" name="Shape 54"/>
        <p:cNvGrpSpPr/>
        <p:nvPr/>
      </p:nvGrpSpPr>
      <p:grpSpPr>
        <a:xfrm>
          <a:off x="0" y="0"/>
          <a:ext cx="0" cy="0"/>
          <a:chOff x="0" y="0"/>
          <a:chExt cx="0" cy="0"/>
        </a:xfrm>
      </p:grpSpPr>
      <p:sp>
        <p:nvSpPr>
          <p:cNvPr id="55" name="Google Shape;55;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2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p2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4" name="Google Shape;64;p2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2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6" name="Google Shape;66;p2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2" name="Shape 82"/>
        <p:cNvGrpSpPr/>
        <p:nvPr/>
      </p:nvGrpSpPr>
      <p:grpSpPr>
        <a:xfrm>
          <a:off x="0" y="0"/>
          <a:ext cx="0" cy="0"/>
          <a:chOff x="0" y="0"/>
          <a:chExt cx="0" cy="0"/>
        </a:xfrm>
      </p:grpSpPr>
      <p:sp>
        <p:nvSpPr>
          <p:cNvPr id="83" name="Google Shape;83;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0"/>
          <p:cNvSpPr/>
          <p:nvPr>
            <p:ph idx="2" type="pic"/>
          </p:nvPr>
        </p:nvSpPr>
        <p:spPr>
          <a:xfrm>
            <a:off x="5183188" y="987425"/>
            <a:ext cx="6172200" cy="4873625"/>
          </a:xfrm>
          <a:prstGeom prst="rect">
            <a:avLst/>
          </a:prstGeom>
          <a:noFill/>
          <a:ln>
            <a:noFill/>
          </a:ln>
        </p:spPr>
      </p:sp>
      <p:sp>
        <p:nvSpPr>
          <p:cNvPr id="85" name="Google Shape;85;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6" name="Google Shape;86;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9" name="Shape 89"/>
        <p:cNvGrpSpPr/>
        <p:nvPr/>
      </p:nvGrpSpPr>
      <p:grpSpPr>
        <a:xfrm>
          <a:off x="0" y="0"/>
          <a:ext cx="0" cy="0"/>
          <a:chOff x="0" y="0"/>
          <a:chExt cx="0" cy="0"/>
        </a:xfrm>
      </p:grpSpPr>
      <p:sp>
        <p:nvSpPr>
          <p:cNvPr id="90" name="Google Shape;90;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5" name="Shape 95"/>
        <p:cNvGrpSpPr/>
        <p:nvPr/>
      </p:nvGrpSpPr>
      <p:grpSpPr>
        <a:xfrm>
          <a:off x="0" y="0"/>
          <a:ext cx="0" cy="0"/>
          <a:chOff x="0" y="0"/>
          <a:chExt cx="0" cy="0"/>
        </a:xfrm>
      </p:grpSpPr>
      <p:sp>
        <p:nvSpPr>
          <p:cNvPr id="96" name="Google Shape;96;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txBox="1"/>
          <p:nvPr/>
        </p:nvSpPr>
        <p:spPr>
          <a:xfrm>
            <a:off x="1048034" y="3018408"/>
            <a:ext cx="51267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0"/>
              <a:buFont typeface="Arial"/>
              <a:buNone/>
            </a:pPr>
            <a:r>
              <a:rPr b="1" i="0" lang="en-US" sz="4800" u="none" cap="none" strike="noStrike">
                <a:solidFill>
                  <a:schemeClr val="lt1"/>
                </a:solidFill>
                <a:latin typeface="Montserrat"/>
                <a:ea typeface="Montserrat"/>
                <a:cs typeface="Montserrat"/>
                <a:sym typeface="Montserrat"/>
              </a:rPr>
              <a:t>Generative AI</a:t>
            </a:r>
            <a:endParaRPr b="1" i="0" sz="4800" u="none" cap="none" strike="noStrike">
              <a:solidFill>
                <a:schemeClr val="lt1"/>
              </a:solidFill>
              <a:latin typeface="Montserrat"/>
              <a:ea typeface="Montserrat"/>
              <a:cs typeface="Montserrat"/>
              <a:sym typeface="Montserrat"/>
            </a:endParaRPr>
          </a:p>
        </p:txBody>
      </p:sp>
      <p:pic>
        <p:nvPicPr>
          <p:cNvPr id="106" name="Google Shape;106;p1"/>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
          <p:cNvSpPr txBox="1"/>
          <p:nvPr/>
        </p:nvSpPr>
        <p:spPr>
          <a:xfrm>
            <a:off x="1055688" y="3252138"/>
            <a:ext cx="6096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4800">
                <a:solidFill>
                  <a:schemeClr val="lt1"/>
                </a:solidFill>
                <a:latin typeface="Montserrat"/>
                <a:ea typeface="Montserrat"/>
                <a:cs typeface="Montserrat"/>
                <a:sym typeface="Montserrat"/>
              </a:rPr>
              <a:t>LLMs</a:t>
            </a:r>
            <a:endParaRPr b="1" i="0" sz="4800" u="none" cap="none" strike="noStrike">
              <a:solidFill>
                <a:schemeClr val="lt1"/>
              </a:solidFill>
              <a:latin typeface="Montserrat"/>
              <a:ea typeface="Montserrat"/>
              <a:cs typeface="Montserrat"/>
              <a:sym typeface="Montserrat"/>
            </a:endParaRPr>
          </a:p>
        </p:txBody>
      </p:sp>
      <p:sp>
        <p:nvSpPr>
          <p:cNvPr id="112" name="Google Shape;112;p2"/>
          <p:cNvSpPr txBox="1"/>
          <p:nvPr/>
        </p:nvSpPr>
        <p:spPr>
          <a:xfrm>
            <a:off x="1055688" y="2743563"/>
            <a:ext cx="50403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Montserrat"/>
                <a:ea typeface="Montserrat"/>
                <a:cs typeface="Montserrat"/>
                <a:sym typeface="Montserrat"/>
              </a:rPr>
              <a:t>Module 3</a:t>
            </a:r>
            <a:endParaRPr b="1" i="0" sz="3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
          <p:cNvSpPr txBox="1"/>
          <p:nvPr/>
        </p:nvSpPr>
        <p:spPr>
          <a:xfrm>
            <a:off x="6892925" y="2856199"/>
            <a:ext cx="4381500" cy="20319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200000"/>
              </a:lnSpc>
              <a:spcBef>
                <a:spcPts val="0"/>
              </a:spcBef>
              <a:spcAft>
                <a:spcPts val="0"/>
              </a:spcAft>
              <a:buClr>
                <a:schemeClr val="dk1"/>
              </a:buClr>
              <a:buSzPts val="1400"/>
              <a:buFont typeface="Montserrat"/>
              <a:buAutoNum type="arabicPeriod"/>
            </a:pPr>
            <a:r>
              <a:rPr lang="en-US">
                <a:solidFill>
                  <a:schemeClr val="dk1"/>
                </a:solidFill>
                <a:latin typeface="Montserrat"/>
                <a:ea typeface="Montserrat"/>
                <a:cs typeface="Montserrat"/>
                <a:sym typeface="Montserrat"/>
              </a:rPr>
              <a:t>What are LLMs?</a:t>
            </a:r>
            <a:endParaRPr>
              <a:solidFill>
                <a:schemeClr val="dk1"/>
              </a:solidFill>
              <a:latin typeface="Montserrat"/>
              <a:ea typeface="Montserrat"/>
              <a:cs typeface="Montserrat"/>
              <a:sym typeface="Montserrat"/>
            </a:endParaRPr>
          </a:p>
          <a:p>
            <a:pPr indent="-342900" lvl="0" marL="342900" marR="0" rtl="0" algn="l">
              <a:lnSpc>
                <a:spcPct val="200000"/>
              </a:lnSpc>
              <a:spcBef>
                <a:spcPts val="0"/>
              </a:spcBef>
              <a:spcAft>
                <a:spcPts val="0"/>
              </a:spcAft>
              <a:buClr>
                <a:schemeClr val="dk1"/>
              </a:buClr>
              <a:buSzPts val="1400"/>
              <a:buFont typeface="Montserrat"/>
              <a:buAutoNum type="arabicPeriod"/>
            </a:pPr>
            <a:r>
              <a:rPr lang="en-US">
                <a:solidFill>
                  <a:schemeClr val="dk1"/>
                </a:solidFill>
                <a:latin typeface="Montserrat"/>
                <a:ea typeface="Montserrat"/>
                <a:cs typeface="Montserrat"/>
                <a:sym typeface="Montserrat"/>
              </a:rPr>
              <a:t>LLM Architecture</a:t>
            </a:r>
            <a:endParaRPr>
              <a:solidFill>
                <a:schemeClr val="dk1"/>
              </a:solidFill>
              <a:latin typeface="Montserrat"/>
              <a:ea typeface="Montserrat"/>
              <a:cs typeface="Montserrat"/>
              <a:sym typeface="Montserrat"/>
            </a:endParaRPr>
          </a:p>
          <a:p>
            <a:pPr indent="-342900" lvl="0" marL="342900" marR="0" rtl="0" algn="l">
              <a:lnSpc>
                <a:spcPct val="200000"/>
              </a:lnSpc>
              <a:spcBef>
                <a:spcPts val="0"/>
              </a:spcBef>
              <a:spcAft>
                <a:spcPts val="0"/>
              </a:spcAft>
              <a:buClr>
                <a:schemeClr val="dk1"/>
              </a:buClr>
              <a:buSzPts val="1400"/>
              <a:buFont typeface="Montserrat"/>
              <a:buAutoNum type="arabicPeriod"/>
            </a:pPr>
            <a:r>
              <a:rPr lang="en-US">
                <a:solidFill>
                  <a:schemeClr val="dk1"/>
                </a:solidFill>
                <a:latin typeface="Montserrat"/>
                <a:ea typeface="Montserrat"/>
                <a:cs typeface="Montserrat"/>
                <a:sym typeface="Montserrat"/>
              </a:rPr>
              <a:t>Types of LLM</a:t>
            </a:r>
            <a:endParaRPr>
              <a:solidFill>
                <a:schemeClr val="dk1"/>
              </a:solidFill>
              <a:latin typeface="Montserrat"/>
              <a:ea typeface="Montserrat"/>
              <a:cs typeface="Montserrat"/>
              <a:sym typeface="Montserrat"/>
            </a:endParaRPr>
          </a:p>
          <a:p>
            <a:pPr indent="-342900" lvl="0" marL="342900" marR="0" rtl="0" algn="l">
              <a:lnSpc>
                <a:spcPct val="200000"/>
              </a:lnSpc>
              <a:spcBef>
                <a:spcPts val="0"/>
              </a:spcBef>
              <a:spcAft>
                <a:spcPts val="0"/>
              </a:spcAft>
              <a:buClr>
                <a:schemeClr val="dk1"/>
              </a:buClr>
              <a:buSzPts val="1400"/>
              <a:buFont typeface="Montserrat"/>
              <a:buAutoNum type="arabicPeriod"/>
            </a:pPr>
            <a:r>
              <a:rPr lang="en-US">
                <a:solidFill>
                  <a:schemeClr val="dk1"/>
                </a:solidFill>
                <a:latin typeface="Montserrat"/>
                <a:ea typeface="Montserrat"/>
                <a:cs typeface="Montserrat"/>
                <a:sym typeface="Montserrat"/>
              </a:rPr>
              <a:t>Applications of LLM</a:t>
            </a:r>
            <a:endParaRPr>
              <a:solidFill>
                <a:schemeClr val="dk1"/>
              </a:solidFill>
              <a:latin typeface="Montserrat"/>
              <a:ea typeface="Montserrat"/>
              <a:cs typeface="Montserrat"/>
              <a:sym typeface="Montserrat"/>
            </a:endParaRPr>
          </a:p>
          <a:p>
            <a:pPr indent="-342900" lvl="0" marL="342900" marR="0" rtl="0" algn="l">
              <a:lnSpc>
                <a:spcPct val="200000"/>
              </a:lnSpc>
              <a:spcBef>
                <a:spcPts val="0"/>
              </a:spcBef>
              <a:spcAft>
                <a:spcPts val="0"/>
              </a:spcAft>
              <a:buClr>
                <a:schemeClr val="dk1"/>
              </a:buClr>
              <a:buSzPts val="1400"/>
              <a:buFont typeface="Montserrat"/>
              <a:buAutoNum type="arabicPeriod"/>
            </a:pPr>
            <a:r>
              <a:rPr lang="en-US">
                <a:solidFill>
                  <a:schemeClr val="dk1"/>
                </a:solidFill>
                <a:latin typeface="Montserrat"/>
                <a:ea typeface="Montserrat"/>
                <a:cs typeface="Montserrat"/>
                <a:sym typeface="Montserrat"/>
              </a:rPr>
              <a:t>Hands-on</a:t>
            </a:r>
            <a:endParaRPr>
              <a:solidFill>
                <a:schemeClr val="dk1"/>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2f0967dc895_0_0"/>
          <p:cNvSpPr txBox="1"/>
          <p:nvPr/>
        </p:nvSpPr>
        <p:spPr>
          <a:xfrm>
            <a:off x="3076575" y="3013500"/>
            <a:ext cx="60960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lang="en-US" sz="4800">
                <a:solidFill>
                  <a:schemeClr val="lt1"/>
                </a:solidFill>
                <a:latin typeface="Montserrat"/>
                <a:ea typeface="Montserrat"/>
                <a:cs typeface="Montserrat"/>
                <a:sym typeface="Montserrat"/>
              </a:rPr>
              <a:t>What are LLMs?</a:t>
            </a:r>
            <a:endParaRPr b="1" i="0" sz="48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2f0967dc895_0_4"/>
          <p:cNvSpPr txBox="1"/>
          <p:nvPr/>
        </p:nvSpPr>
        <p:spPr>
          <a:xfrm flipH="1">
            <a:off x="467500" y="207825"/>
            <a:ext cx="9520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lang="en-US" sz="2400">
                <a:solidFill>
                  <a:srgbClr val="675AB9"/>
                </a:solidFill>
                <a:latin typeface="Montserrat"/>
                <a:ea typeface="Montserrat"/>
                <a:cs typeface="Montserrat"/>
                <a:sym typeface="Montserrat"/>
              </a:rPr>
              <a:t>What are LLMs?</a:t>
            </a:r>
            <a:endParaRPr b="1" sz="2400">
              <a:solidFill>
                <a:srgbClr val="675AB9"/>
              </a:solidFill>
              <a:latin typeface="Montserrat"/>
              <a:ea typeface="Montserrat"/>
              <a:cs typeface="Montserrat"/>
              <a:sym typeface="Montserrat"/>
            </a:endParaRPr>
          </a:p>
        </p:txBody>
      </p:sp>
      <p:pic>
        <p:nvPicPr>
          <p:cNvPr id="128" name="Google Shape;128;g2f0967dc895_0_4"/>
          <p:cNvPicPr preferRelativeResize="0"/>
          <p:nvPr/>
        </p:nvPicPr>
        <p:blipFill>
          <a:blip r:embed="rId3">
            <a:alphaModFix/>
          </a:blip>
          <a:stretch>
            <a:fillRect/>
          </a:stretch>
        </p:blipFill>
        <p:spPr>
          <a:xfrm>
            <a:off x="2068338" y="3121326"/>
            <a:ext cx="8055325" cy="2609925"/>
          </a:xfrm>
          <a:prstGeom prst="rect">
            <a:avLst/>
          </a:prstGeom>
          <a:noFill/>
          <a:ln>
            <a:noFill/>
          </a:ln>
        </p:spPr>
      </p:pic>
      <p:sp>
        <p:nvSpPr>
          <p:cNvPr id="129" name="Google Shape;129;g2f0967dc895_0_4"/>
          <p:cNvSpPr txBox="1"/>
          <p:nvPr/>
        </p:nvSpPr>
        <p:spPr>
          <a:xfrm>
            <a:off x="1244867" y="1341325"/>
            <a:ext cx="9702300" cy="11082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1100"/>
              </a:spcBef>
              <a:spcAft>
                <a:spcPts val="1100"/>
              </a:spcAft>
              <a:buNone/>
            </a:pPr>
            <a:r>
              <a:rPr lang="en-US" sz="1500">
                <a:latin typeface="Montserrat"/>
                <a:ea typeface="Montserrat"/>
                <a:cs typeface="Montserrat"/>
                <a:sym typeface="Montserrat"/>
              </a:rPr>
              <a:t>Large language models (LLMs) are foundational models trained on vast datasets, enabling them to comprehend and produce natural language and various content types. This extensive training allows them to perform diverse tasks effectively.</a:t>
            </a:r>
            <a:endParaRPr sz="1500">
              <a:solidFill>
                <a:srgbClr val="000000"/>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2f0967dc895_0_104"/>
          <p:cNvSpPr txBox="1"/>
          <p:nvPr/>
        </p:nvSpPr>
        <p:spPr>
          <a:xfrm>
            <a:off x="3076575" y="3013500"/>
            <a:ext cx="60960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lang="en-US" sz="4800">
                <a:solidFill>
                  <a:schemeClr val="lt1"/>
                </a:solidFill>
                <a:latin typeface="Montserrat"/>
                <a:ea typeface="Montserrat"/>
                <a:cs typeface="Montserrat"/>
                <a:sym typeface="Montserrat"/>
              </a:rPr>
              <a:t>LLM Architecture</a:t>
            </a:r>
            <a:endParaRPr b="1" i="0" sz="48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27fe1aec3a5_0_23"/>
          <p:cNvSpPr txBox="1"/>
          <p:nvPr/>
        </p:nvSpPr>
        <p:spPr>
          <a:xfrm flipH="1">
            <a:off x="467500" y="207825"/>
            <a:ext cx="9520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lang="en-US" sz="2400">
                <a:solidFill>
                  <a:srgbClr val="675AB9"/>
                </a:solidFill>
                <a:latin typeface="Montserrat"/>
                <a:ea typeface="Montserrat"/>
                <a:cs typeface="Montserrat"/>
                <a:sym typeface="Montserrat"/>
              </a:rPr>
              <a:t>LLM Architecture - Key Components</a:t>
            </a:r>
            <a:endParaRPr b="1" sz="2400">
              <a:solidFill>
                <a:srgbClr val="675AB9"/>
              </a:solidFill>
              <a:latin typeface="Montserrat"/>
              <a:ea typeface="Montserrat"/>
              <a:cs typeface="Montserrat"/>
              <a:sym typeface="Montserrat"/>
            </a:endParaRPr>
          </a:p>
        </p:txBody>
      </p:sp>
      <p:pic>
        <p:nvPicPr>
          <p:cNvPr id="140" name="Google Shape;140;g27fe1aec3a5_0_23"/>
          <p:cNvPicPr preferRelativeResize="0"/>
          <p:nvPr/>
        </p:nvPicPr>
        <p:blipFill>
          <a:blip r:embed="rId3">
            <a:alphaModFix/>
          </a:blip>
          <a:stretch>
            <a:fillRect/>
          </a:stretch>
        </p:blipFill>
        <p:spPr>
          <a:xfrm>
            <a:off x="1337975" y="1127575"/>
            <a:ext cx="3623150" cy="4976125"/>
          </a:xfrm>
          <a:prstGeom prst="rect">
            <a:avLst/>
          </a:prstGeom>
          <a:noFill/>
          <a:ln>
            <a:noFill/>
          </a:ln>
        </p:spPr>
      </p:pic>
      <p:sp>
        <p:nvSpPr>
          <p:cNvPr id="141" name="Google Shape;141;g27fe1aec3a5_0_23"/>
          <p:cNvSpPr/>
          <p:nvPr/>
        </p:nvSpPr>
        <p:spPr>
          <a:xfrm>
            <a:off x="6939411" y="2065852"/>
            <a:ext cx="503400" cy="465300"/>
          </a:xfrm>
          <a:prstGeom prst="roundRect">
            <a:avLst>
              <a:gd fmla="val 32479" name="adj"/>
            </a:avLst>
          </a:prstGeom>
          <a:solidFill>
            <a:srgbClr val="FEAE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Calibri"/>
              <a:ea typeface="Calibri"/>
              <a:cs typeface="Calibri"/>
              <a:sym typeface="Calibri"/>
            </a:endParaRPr>
          </a:p>
        </p:txBody>
      </p:sp>
      <p:sp>
        <p:nvSpPr>
          <p:cNvPr id="142" name="Google Shape;142;g27fe1aec3a5_0_23"/>
          <p:cNvSpPr/>
          <p:nvPr/>
        </p:nvSpPr>
        <p:spPr>
          <a:xfrm>
            <a:off x="6924215" y="2031252"/>
            <a:ext cx="534000" cy="534000"/>
          </a:xfrm>
          <a:prstGeom prst="ellipse">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100"/>
              <a:buFont typeface="Arial"/>
              <a:buNone/>
            </a:pPr>
            <a:r>
              <a:rPr b="1" lang="en-US" sz="2000">
                <a:solidFill>
                  <a:srgbClr val="FFFFFF"/>
                </a:solidFill>
                <a:latin typeface="Montserrat"/>
                <a:ea typeface="Montserrat"/>
                <a:cs typeface="Montserrat"/>
                <a:sym typeface="Montserrat"/>
              </a:rPr>
              <a:t>1</a:t>
            </a:r>
            <a:endParaRPr b="1" i="0" sz="2000" u="none" cap="none" strike="noStrike">
              <a:solidFill>
                <a:srgbClr val="FFFFFF"/>
              </a:solidFill>
              <a:latin typeface="Montserrat"/>
              <a:ea typeface="Montserrat"/>
              <a:cs typeface="Montserrat"/>
              <a:sym typeface="Montserrat"/>
            </a:endParaRPr>
          </a:p>
        </p:txBody>
      </p:sp>
      <p:sp>
        <p:nvSpPr>
          <p:cNvPr id="143" name="Google Shape;143;g27fe1aec3a5_0_23"/>
          <p:cNvSpPr txBox="1"/>
          <p:nvPr/>
        </p:nvSpPr>
        <p:spPr>
          <a:xfrm>
            <a:off x="7521066" y="2098252"/>
            <a:ext cx="2225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FEAE17"/>
                </a:solidFill>
                <a:latin typeface="Montserrat"/>
                <a:ea typeface="Montserrat"/>
                <a:cs typeface="Montserrat"/>
                <a:sym typeface="Montserrat"/>
              </a:rPr>
              <a:t>Input Embeddings</a:t>
            </a:r>
            <a:endParaRPr b="1" sz="1500">
              <a:solidFill>
                <a:srgbClr val="FEAE17"/>
              </a:solidFill>
              <a:latin typeface="Montserrat"/>
              <a:ea typeface="Montserrat"/>
              <a:cs typeface="Montserrat"/>
              <a:sym typeface="Montserrat"/>
            </a:endParaRPr>
          </a:p>
        </p:txBody>
      </p:sp>
      <p:sp>
        <p:nvSpPr>
          <p:cNvPr id="144" name="Google Shape;144;g27fe1aec3a5_0_23"/>
          <p:cNvSpPr/>
          <p:nvPr/>
        </p:nvSpPr>
        <p:spPr>
          <a:xfrm>
            <a:off x="6954605" y="2959502"/>
            <a:ext cx="503400" cy="465300"/>
          </a:xfrm>
          <a:prstGeom prst="roundRect">
            <a:avLst>
              <a:gd fmla="val 32479" name="adj"/>
            </a:avLst>
          </a:prstGeom>
          <a:solidFill>
            <a:srgbClr val="9E9C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Calibri"/>
              <a:ea typeface="Calibri"/>
              <a:cs typeface="Calibri"/>
              <a:sym typeface="Calibri"/>
            </a:endParaRPr>
          </a:p>
        </p:txBody>
      </p:sp>
      <p:sp>
        <p:nvSpPr>
          <p:cNvPr id="145" name="Google Shape;145;g27fe1aec3a5_0_23"/>
          <p:cNvSpPr/>
          <p:nvPr/>
        </p:nvSpPr>
        <p:spPr>
          <a:xfrm>
            <a:off x="6939408" y="2924902"/>
            <a:ext cx="534000" cy="534000"/>
          </a:xfrm>
          <a:prstGeom prst="ellipse">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100"/>
              <a:buFont typeface="Arial"/>
              <a:buNone/>
            </a:pPr>
            <a:r>
              <a:rPr b="1" lang="en-US" sz="2000">
                <a:solidFill>
                  <a:srgbClr val="FFFFFF"/>
                </a:solidFill>
                <a:latin typeface="Montserrat"/>
                <a:ea typeface="Montserrat"/>
                <a:cs typeface="Montserrat"/>
                <a:sym typeface="Montserrat"/>
              </a:rPr>
              <a:t>2</a:t>
            </a:r>
            <a:endParaRPr b="1" i="0" sz="2000" u="none" cap="none" strike="noStrike">
              <a:solidFill>
                <a:srgbClr val="FFFFFF"/>
              </a:solidFill>
              <a:latin typeface="Montserrat"/>
              <a:ea typeface="Montserrat"/>
              <a:cs typeface="Montserrat"/>
              <a:sym typeface="Montserrat"/>
            </a:endParaRPr>
          </a:p>
        </p:txBody>
      </p:sp>
      <p:sp>
        <p:nvSpPr>
          <p:cNvPr id="146" name="Google Shape;146;g27fe1aec3a5_0_23"/>
          <p:cNvSpPr txBox="1"/>
          <p:nvPr/>
        </p:nvSpPr>
        <p:spPr>
          <a:xfrm>
            <a:off x="7536259" y="2991902"/>
            <a:ext cx="2225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9E9CF1"/>
                </a:solidFill>
                <a:latin typeface="Montserrat"/>
                <a:ea typeface="Montserrat"/>
                <a:cs typeface="Montserrat"/>
                <a:sym typeface="Montserrat"/>
              </a:rPr>
              <a:t>Transformer Blocks</a:t>
            </a:r>
            <a:endParaRPr b="1" sz="1500">
              <a:solidFill>
                <a:srgbClr val="9E9CF1"/>
              </a:solidFill>
              <a:latin typeface="Montserrat"/>
              <a:ea typeface="Montserrat"/>
              <a:cs typeface="Montserrat"/>
              <a:sym typeface="Montserrat"/>
            </a:endParaRPr>
          </a:p>
        </p:txBody>
      </p:sp>
      <p:sp>
        <p:nvSpPr>
          <p:cNvPr id="147" name="Google Shape;147;g27fe1aec3a5_0_23"/>
          <p:cNvSpPr/>
          <p:nvPr/>
        </p:nvSpPr>
        <p:spPr>
          <a:xfrm>
            <a:off x="6969804" y="3920152"/>
            <a:ext cx="503400" cy="465300"/>
          </a:xfrm>
          <a:prstGeom prst="roundRect">
            <a:avLst>
              <a:gd fmla="val 32479" name="adj"/>
            </a:avLst>
          </a:prstGeom>
          <a:solidFill>
            <a:srgbClr val="FEAE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Calibri"/>
              <a:ea typeface="Calibri"/>
              <a:cs typeface="Calibri"/>
              <a:sym typeface="Calibri"/>
            </a:endParaRPr>
          </a:p>
        </p:txBody>
      </p:sp>
      <p:sp>
        <p:nvSpPr>
          <p:cNvPr id="148" name="Google Shape;148;g27fe1aec3a5_0_23"/>
          <p:cNvSpPr/>
          <p:nvPr/>
        </p:nvSpPr>
        <p:spPr>
          <a:xfrm>
            <a:off x="6954608" y="3885552"/>
            <a:ext cx="534000" cy="534000"/>
          </a:xfrm>
          <a:prstGeom prst="ellipse">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100"/>
              <a:buFont typeface="Arial"/>
              <a:buNone/>
            </a:pPr>
            <a:r>
              <a:rPr b="1" lang="en-US" sz="2000">
                <a:solidFill>
                  <a:srgbClr val="FFFFFF"/>
                </a:solidFill>
                <a:latin typeface="Montserrat"/>
                <a:ea typeface="Montserrat"/>
                <a:cs typeface="Montserrat"/>
                <a:sym typeface="Montserrat"/>
              </a:rPr>
              <a:t>3</a:t>
            </a:r>
            <a:endParaRPr b="1" i="0" sz="2000" u="none" cap="none" strike="noStrike">
              <a:solidFill>
                <a:srgbClr val="FFFFFF"/>
              </a:solidFill>
              <a:latin typeface="Montserrat"/>
              <a:ea typeface="Montserrat"/>
              <a:cs typeface="Montserrat"/>
              <a:sym typeface="Montserrat"/>
            </a:endParaRPr>
          </a:p>
        </p:txBody>
      </p:sp>
      <p:sp>
        <p:nvSpPr>
          <p:cNvPr id="149" name="Google Shape;149;g27fe1aec3a5_0_23"/>
          <p:cNvSpPr txBox="1"/>
          <p:nvPr/>
        </p:nvSpPr>
        <p:spPr>
          <a:xfrm>
            <a:off x="7551459" y="3952552"/>
            <a:ext cx="2225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FEAE17"/>
                </a:solidFill>
                <a:latin typeface="Montserrat"/>
                <a:ea typeface="Montserrat"/>
                <a:cs typeface="Montserrat"/>
                <a:sym typeface="Montserrat"/>
              </a:rPr>
              <a:t>Positional Encoding</a:t>
            </a:r>
            <a:endParaRPr b="1" sz="1500">
              <a:solidFill>
                <a:srgbClr val="FEAE17"/>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27fe1aec3a5_0_95"/>
          <p:cNvSpPr txBox="1"/>
          <p:nvPr/>
        </p:nvSpPr>
        <p:spPr>
          <a:xfrm flipH="1">
            <a:off x="467500" y="207825"/>
            <a:ext cx="9520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lang="en-US" sz="2400">
                <a:solidFill>
                  <a:srgbClr val="675AB9"/>
                </a:solidFill>
                <a:latin typeface="Montserrat"/>
                <a:ea typeface="Montserrat"/>
                <a:cs typeface="Montserrat"/>
                <a:sym typeface="Montserrat"/>
              </a:rPr>
              <a:t>LLM Architecture - Key Components</a:t>
            </a:r>
            <a:endParaRPr b="1" sz="2400">
              <a:solidFill>
                <a:srgbClr val="675AB9"/>
              </a:solidFill>
              <a:latin typeface="Montserrat"/>
              <a:ea typeface="Montserrat"/>
              <a:cs typeface="Montserrat"/>
              <a:sym typeface="Montserrat"/>
            </a:endParaRPr>
          </a:p>
        </p:txBody>
      </p:sp>
      <p:sp>
        <p:nvSpPr>
          <p:cNvPr id="155" name="Google Shape;155;g27fe1aec3a5_0_95"/>
          <p:cNvSpPr/>
          <p:nvPr/>
        </p:nvSpPr>
        <p:spPr>
          <a:xfrm>
            <a:off x="482686" y="1427477"/>
            <a:ext cx="503400" cy="465300"/>
          </a:xfrm>
          <a:prstGeom prst="roundRect">
            <a:avLst>
              <a:gd fmla="val 32479" name="adj"/>
            </a:avLst>
          </a:prstGeom>
          <a:solidFill>
            <a:srgbClr val="FEAE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Calibri"/>
              <a:ea typeface="Calibri"/>
              <a:cs typeface="Calibri"/>
              <a:sym typeface="Calibri"/>
            </a:endParaRPr>
          </a:p>
        </p:txBody>
      </p:sp>
      <p:sp>
        <p:nvSpPr>
          <p:cNvPr id="156" name="Google Shape;156;g27fe1aec3a5_0_95"/>
          <p:cNvSpPr/>
          <p:nvPr/>
        </p:nvSpPr>
        <p:spPr>
          <a:xfrm>
            <a:off x="467490" y="1392877"/>
            <a:ext cx="534000" cy="534000"/>
          </a:xfrm>
          <a:prstGeom prst="ellipse">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100"/>
              <a:buFont typeface="Arial"/>
              <a:buNone/>
            </a:pPr>
            <a:r>
              <a:rPr b="1" lang="en-US" sz="2000">
                <a:solidFill>
                  <a:srgbClr val="FFFFFF"/>
                </a:solidFill>
                <a:latin typeface="Montserrat"/>
                <a:ea typeface="Montserrat"/>
                <a:cs typeface="Montserrat"/>
                <a:sym typeface="Montserrat"/>
              </a:rPr>
              <a:t>1</a:t>
            </a:r>
            <a:endParaRPr b="1" i="0" sz="2000" u="none" cap="none" strike="noStrike">
              <a:solidFill>
                <a:srgbClr val="FFFFFF"/>
              </a:solidFill>
              <a:latin typeface="Montserrat"/>
              <a:ea typeface="Montserrat"/>
              <a:cs typeface="Montserrat"/>
              <a:sym typeface="Montserrat"/>
            </a:endParaRPr>
          </a:p>
        </p:txBody>
      </p:sp>
      <p:sp>
        <p:nvSpPr>
          <p:cNvPr id="157" name="Google Shape;157;g27fe1aec3a5_0_95"/>
          <p:cNvSpPr txBox="1"/>
          <p:nvPr/>
        </p:nvSpPr>
        <p:spPr>
          <a:xfrm>
            <a:off x="1064341" y="1459877"/>
            <a:ext cx="2225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FEAE17"/>
                </a:solidFill>
                <a:latin typeface="Montserrat"/>
                <a:ea typeface="Montserrat"/>
                <a:cs typeface="Montserrat"/>
                <a:sym typeface="Montserrat"/>
              </a:rPr>
              <a:t>Input Embeddings</a:t>
            </a:r>
            <a:endParaRPr b="1" sz="1500">
              <a:solidFill>
                <a:srgbClr val="FEAE17"/>
              </a:solidFill>
              <a:latin typeface="Montserrat"/>
              <a:ea typeface="Montserrat"/>
              <a:cs typeface="Montserrat"/>
              <a:sym typeface="Montserrat"/>
            </a:endParaRPr>
          </a:p>
        </p:txBody>
      </p:sp>
      <p:sp>
        <p:nvSpPr>
          <p:cNvPr id="158" name="Google Shape;158;g27fe1aec3a5_0_95"/>
          <p:cNvSpPr/>
          <p:nvPr/>
        </p:nvSpPr>
        <p:spPr>
          <a:xfrm>
            <a:off x="497880" y="2321127"/>
            <a:ext cx="503400" cy="465300"/>
          </a:xfrm>
          <a:prstGeom prst="roundRect">
            <a:avLst>
              <a:gd fmla="val 32479" name="adj"/>
            </a:avLst>
          </a:prstGeom>
          <a:solidFill>
            <a:srgbClr val="9E9C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Calibri"/>
              <a:ea typeface="Calibri"/>
              <a:cs typeface="Calibri"/>
              <a:sym typeface="Calibri"/>
            </a:endParaRPr>
          </a:p>
        </p:txBody>
      </p:sp>
      <p:sp>
        <p:nvSpPr>
          <p:cNvPr id="159" name="Google Shape;159;g27fe1aec3a5_0_95"/>
          <p:cNvSpPr/>
          <p:nvPr/>
        </p:nvSpPr>
        <p:spPr>
          <a:xfrm>
            <a:off x="482683" y="2286527"/>
            <a:ext cx="534000" cy="534000"/>
          </a:xfrm>
          <a:prstGeom prst="ellipse">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100"/>
              <a:buFont typeface="Arial"/>
              <a:buNone/>
            </a:pPr>
            <a:r>
              <a:rPr b="1" lang="en-US" sz="2000">
                <a:solidFill>
                  <a:srgbClr val="FFFFFF"/>
                </a:solidFill>
                <a:latin typeface="Montserrat"/>
                <a:ea typeface="Montserrat"/>
                <a:cs typeface="Montserrat"/>
                <a:sym typeface="Montserrat"/>
              </a:rPr>
              <a:t>2</a:t>
            </a:r>
            <a:endParaRPr b="1" i="0" sz="2000" u="none" cap="none" strike="noStrike">
              <a:solidFill>
                <a:srgbClr val="FFFFFF"/>
              </a:solidFill>
              <a:latin typeface="Montserrat"/>
              <a:ea typeface="Montserrat"/>
              <a:cs typeface="Montserrat"/>
              <a:sym typeface="Montserrat"/>
            </a:endParaRPr>
          </a:p>
        </p:txBody>
      </p:sp>
      <p:sp>
        <p:nvSpPr>
          <p:cNvPr id="160" name="Google Shape;160;g27fe1aec3a5_0_95"/>
          <p:cNvSpPr txBox="1"/>
          <p:nvPr/>
        </p:nvSpPr>
        <p:spPr>
          <a:xfrm>
            <a:off x="1079534" y="2353527"/>
            <a:ext cx="2225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9E9CF1"/>
                </a:solidFill>
                <a:latin typeface="Montserrat"/>
                <a:ea typeface="Montserrat"/>
                <a:cs typeface="Montserrat"/>
                <a:sym typeface="Montserrat"/>
              </a:rPr>
              <a:t>Transformer Blocks</a:t>
            </a:r>
            <a:endParaRPr b="1" sz="1500">
              <a:solidFill>
                <a:srgbClr val="9E9CF1"/>
              </a:solidFill>
              <a:latin typeface="Montserrat"/>
              <a:ea typeface="Montserrat"/>
              <a:cs typeface="Montserrat"/>
              <a:sym typeface="Montserrat"/>
            </a:endParaRPr>
          </a:p>
        </p:txBody>
      </p:sp>
      <p:sp>
        <p:nvSpPr>
          <p:cNvPr id="161" name="Google Shape;161;g27fe1aec3a5_0_95"/>
          <p:cNvSpPr/>
          <p:nvPr/>
        </p:nvSpPr>
        <p:spPr>
          <a:xfrm>
            <a:off x="513079" y="3281777"/>
            <a:ext cx="503400" cy="465300"/>
          </a:xfrm>
          <a:prstGeom prst="roundRect">
            <a:avLst>
              <a:gd fmla="val 32479" name="adj"/>
            </a:avLst>
          </a:prstGeom>
          <a:solidFill>
            <a:srgbClr val="FEAE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Calibri"/>
              <a:ea typeface="Calibri"/>
              <a:cs typeface="Calibri"/>
              <a:sym typeface="Calibri"/>
            </a:endParaRPr>
          </a:p>
        </p:txBody>
      </p:sp>
      <p:sp>
        <p:nvSpPr>
          <p:cNvPr id="162" name="Google Shape;162;g27fe1aec3a5_0_95"/>
          <p:cNvSpPr/>
          <p:nvPr/>
        </p:nvSpPr>
        <p:spPr>
          <a:xfrm>
            <a:off x="497883" y="3247177"/>
            <a:ext cx="534000" cy="534000"/>
          </a:xfrm>
          <a:prstGeom prst="ellipse">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100"/>
              <a:buFont typeface="Arial"/>
              <a:buNone/>
            </a:pPr>
            <a:r>
              <a:rPr b="1" lang="en-US" sz="2000">
                <a:solidFill>
                  <a:srgbClr val="FFFFFF"/>
                </a:solidFill>
                <a:latin typeface="Montserrat"/>
                <a:ea typeface="Montserrat"/>
                <a:cs typeface="Montserrat"/>
                <a:sym typeface="Montserrat"/>
              </a:rPr>
              <a:t>3</a:t>
            </a:r>
            <a:endParaRPr b="1" i="0" sz="2000" u="none" cap="none" strike="noStrike">
              <a:solidFill>
                <a:srgbClr val="FFFFFF"/>
              </a:solidFill>
              <a:latin typeface="Montserrat"/>
              <a:ea typeface="Montserrat"/>
              <a:cs typeface="Montserrat"/>
              <a:sym typeface="Montserrat"/>
            </a:endParaRPr>
          </a:p>
        </p:txBody>
      </p:sp>
      <p:sp>
        <p:nvSpPr>
          <p:cNvPr id="163" name="Google Shape;163;g27fe1aec3a5_0_95"/>
          <p:cNvSpPr txBox="1"/>
          <p:nvPr/>
        </p:nvSpPr>
        <p:spPr>
          <a:xfrm>
            <a:off x="1094734" y="3314177"/>
            <a:ext cx="2225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FEAE17"/>
                </a:solidFill>
                <a:latin typeface="Montserrat"/>
                <a:ea typeface="Montserrat"/>
                <a:cs typeface="Montserrat"/>
                <a:sym typeface="Montserrat"/>
              </a:rPr>
              <a:t>Positional Encoding</a:t>
            </a:r>
            <a:endParaRPr b="1" sz="1500">
              <a:solidFill>
                <a:srgbClr val="FEAE17"/>
              </a:solidFill>
              <a:latin typeface="Montserrat"/>
              <a:ea typeface="Montserrat"/>
              <a:cs typeface="Montserrat"/>
              <a:sym typeface="Montserrat"/>
            </a:endParaRPr>
          </a:p>
        </p:txBody>
      </p:sp>
      <p:sp>
        <p:nvSpPr>
          <p:cNvPr id="164" name="Google Shape;164;g27fe1aec3a5_0_95"/>
          <p:cNvSpPr/>
          <p:nvPr/>
        </p:nvSpPr>
        <p:spPr>
          <a:xfrm>
            <a:off x="5660809" y="971300"/>
            <a:ext cx="5069400" cy="5151600"/>
          </a:xfrm>
          <a:prstGeom prst="roundRect">
            <a:avLst>
              <a:gd fmla="val 6829" name="adj"/>
            </a:avLst>
          </a:prstGeom>
          <a:noFill/>
          <a:ln cap="flat" cmpd="sng" w="28575">
            <a:solidFill>
              <a:srgbClr val="57A6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g27fe1aec3a5_0_95"/>
          <p:cNvSpPr txBox="1"/>
          <p:nvPr/>
        </p:nvSpPr>
        <p:spPr>
          <a:xfrm>
            <a:off x="6158109" y="2087950"/>
            <a:ext cx="4140600" cy="3577800"/>
          </a:xfrm>
          <a:prstGeom prst="rect">
            <a:avLst/>
          </a:prstGeom>
          <a:noFill/>
          <a:ln>
            <a:noFill/>
          </a:ln>
        </p:spPr>
        <p:txBody>
          <a:bodyPr anchorCtr="0" anchor="t" bIns="91425" lIns="91425" spcFirstLastPara="1" rIns="91425" wrap="square" tIns="91425">
            <a:noAutofit/>
          </a:bodyPr>
          <a:lstStyle/>
          <a:p>
            <a:pPr indent="0" lvl="0" marL="0" marR="5080" rtl="0" algn="l">
              <a:spcBef>
                <a:spcPts val="1000"/>
              </a:spcBef>
              <a:spcAft>
                <a:spcPts val="0"/>
              </a:spcAft>
              <a:buNone/>
            </a:pPr>
            <a:r>
              <a:rPr lang="en-US" sz="1500">
                <a:latin typeface="Montserrat"/>
                <a:ea typeface="Montserrat"/>
                <a:cs typeface="Montserrat"/>
                <a:sym typeface="Montserrat"/>
              </a:rPr>
              <a:t>The purpose of the input embeddings is to </a:t>
            </a:r>
            <a:r>
              <a:rPr b="1" lang="en-US" sz="1500">
                <a:latin typeface="Montserrat"/>
                <a:ea typeface="Montserrat"/>
                <a:cs typeface="Montserrat"/>
                <a:sym typeface="Montserrat"/>
              </a:rPr>
              <a:t>transform words or tokens into dense vector representations.</a:t>
            </a:r>
            <a:endParaRPr b="1" sz="1500">
              <a:latin typeface="Montserrat"/>
              <a:ea typeface="Montserrat"/>
              <a:cs typeface="Montserrat"/>
              <a:sym typeface="Montserrat"/>
            </a:endParaRPr>
          </a:p>
          <a:p>
            <a:pPr indent="0" lvl="0" marL="0" marR="5080" rtl="0" algn="l">
              <a:spcBef>
                <a:spcPts val="1000"/>
              </a:spcBef>
              <a:spcAft>
                <a:spcPts val="0"/>
              </a:spcAft>
              <a:buNone/>
            </a:pPr>
            <a:r>
              <a:t/>
            </a:r>
            <a:endParaRPr sz="1500">
              <a:latin typeface="Montserrat"/>
              <a:ea typeface="Montserrat"/>
              <a:cs typeface="Montserrat"/>
              <a:sym typeface="Montserrat"/>
            </a:endParaRPr>
          </a:p>
          <a:p>
            <a:pPr indent="0" lvl="0" marL="0" marR="5080" rtl="0" algn="l">
              <a:spcBef>
                <a:spcPts val="1000"/>
              </a:spcBef>
              <a:spcAft>
                <a:spcPts val="1000"/>
              </a:spcAft>
              <a:buNone/>
            </a:pPr>
            <a:r>
              <a:rPr lang="en-US" sz="1500">
                <a:latin typeface="Montserrat"/>
                <a:ea typeface="Montserrat"/>
                <a:cs typeface="Montserrat"/>
                <a:sym typeface="Montserrat"/>
              </a:rPr>
              <a:t>For the sentence that we saw in the last module - "The cat sat on the mat," each word is converted into a vector. These vectors capture semantic information about each word.</a:t>
            </a:r>
            <a:endParaRPr sz="1500">
              <a:latin typeface="Montserrat"/>
              <a:ea typeface="Montserrat"/>
              <a:cs typeface="Montserrat"/>
              <a:sym typeface="Montserrat"/>
            </a:endParaRPr>
          </a:p>
        </p:txBody>
      </p:sp>
      <p:sp>
        <p:nvSpPr>
          <p:cNvPr id="166" name="Google Shape;166;g27fe1aec3a5_0_95"/>
          <p:cNvSpPr txBox="1"/>
          <p:nvPr/>
        </p:nvSpPr>
        <p:spPr>
          <a:xfrm>
            <a:off x="6158116" y="1335545"/>
            <a:ext cx="2573700" cy="415500"/>
          </a:xfrm>
          <a:prstGeom prst="rect">
            <a:avLst/>
          </a:prstGeom>
          <a:noFill/>
          <a:ln>
            <a:noFill/>
          </a:ln>
        </p:spPr>
        <p:txBody>
          <a:bodyPr anchorCtr="0" anchor="t" bIns="91425" lIns="91425" spcFirstLastPara="1" rIns="91425" wrap="square" tIns="91425">
            <a:spAutoFit/>
          </a:bodyPr>
          <a:lstStyle/>
          <a:p>
            <a:pPr indent="0" lvl="0" marL="0" marR="5080" rtl="0" algn="l">
              <a:spcBef>
                <a:spcPts val="1000"/>
              </a:spcBef>
              <a:spcAft>
                <a:spcPts val="1000"/>
              </a:spcAft>
              <a:buNone/>
            </a:pPr>
            <a:r>
              <a:rPr b="1" lang="en-US" sz="1500">
                <a:solidFill>
                  <a:srgbClr val="FEAE17"/>
                </a:solidFill>
                <a:latin typeface="Montserrat"/>
                <a:ea typeface="Montserrat"/>
                <a:cs typeface="Montserrat"/>
                <a:sym typeface="Montserrat"/>
              </a:rPr>
              <a:t>Input Embeddings</a:t>
            </a:r>
            <a:endParaRPr b="1" sz="1500">
              <a:solidFill>
                <a:srgbClr val="FEAE17"/>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2f0967dc895_0_108"/>
          <p:cNvSpPr txBox="1"/>
          <p:nvPr/>
        </p:nvSpPr>
        <p:spPr>
          <a:xfrm flipH="1">
            <a:off x="467500" y="207825"/>
            <a:ext cx="9520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lang="en-US" sz="2400">
                <a:solidFill>
                  <a:srgbClr val="675AB9"/>
                </a:solidFill>
                <a:latin typeface="Montserrat"/>
                <a:ea typeface="Montserrat"/>
                <a:cs typeface="Montserrat"/>
                <a:sym typeface="Montserrat"/>
              </a:rPr>
              <a:t>LLM Architecture - Key Components</a:t>
            </a:r>
            <a:endParaRPr b="1" sz="2400">
              <a:solidFill>
                <a:srgbClr val="675AB9"/>
              </a:solidFill>
              <a:latin typeface="Montserrat"/>
              <a:ea typeface="Montserrat"/>
              <a:cs typeface="Montserrat"/>
              <a:sym typeface="Montserrat"/>
            </a:endParaRPr>
          </a:p>
        </p:txBody>
      </p:sp>
      <p:sp>
        <p:nvSpPr>
          <p:cNvPr id="172" name="Google Shape;172;g2f0967dc895_0_108"/>
          <p:cNvSpPr/>
          <p:nvPr/>
        </p:nvSpPr>
        <p:spPr>
          <a:xfrm>
            <a:off x="482686" y="1427477"/>
            <a:ext cx="503400" cy="465300"/>
          </a:xfrm>
          <a:prstGeom prst="roundRect">
            <a:avLst>
              <a:gd fmla="val 32479" name="adj"/>
            </a:avLst>
          </a:prstGeom>
          <a:solidFill>
            <a:srgbClr val="FEAE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Calibri"/>
              <a:ea typeface="Calibri"/>
              <a:cs typeface="Calibri"/>
              <a:sym typeface="Calibri"/>
            </a:endParaRPr>
          </a:p>
        </p:txBody>
      </p:sp>
      <p:sp>
        <p:nvSpPr>
          <p:cNvPr id="173" name="Google Shape;173;g2f0967dc895_0_108"/>
          <p:cNvSpPr/>
          <p:nvPr/>
        </p:nvSpPr>
        <p:spPr>
          <a:xfrm>
            <a:off x="467490" y="1392877"/>
            <a:ext cx="534000" cy="534000"/>
          </a:xfrm>
          <a:prstGeom prst="ellipse">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100"/>
              <a:buFont typeface="Arial"/>
              <a:buNone/>
            </a:pPr>
            <a:r>
              <a:rPr b="1" lang="en-US" sz="2000">
                <a:solidFill>
                  <a:srgbClr val="FFFFFF"/>
                </a:solidFill>
                <a:latin typeface="Montserrat"/>
                <a:ea typeface="Montserrat"/>
                <a:cs typeface="Montserrat"/>
                <a:sym typeface="Montserrat"/>
              </a:rPr>
              <a:t>1</a:t>
            </a:r>
            <a:endParaRPr b="1" i="0" sz="2000" u="none" cap="none" strike="noStrike">
              <a:solidFill>
                <a:srgbClr val="FFFFFF"/>
              </a:solidFill>
              <a:latin typeface="Montserrat"/>
              <a:ea typeface="Montserrat"/>
              <a:cs typeface="Montserrat"/>
              <a:sym typeface="Montserrat"/>
            </a:endParaRPr>
          </a:p>
        </p:txBody>
      </p:sp>
      <p:sp>
        <p:nvSpPr>
          <p:cNvPr id="174" name="Google Shape;174;g2f0967dc895_0_108"/>
          <p:cNvSpPr txBox="1"/>
          <p:nvPr/>
        </p:nvSpPr>
        <p:spPr>
          <a:xfrm>
            <a:off x="1064341" y="1459877"/>
            <a:ext cx="2225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FEAE17"/>
                </a:solidFill>
                <a:latin typeface="Montserrat"/>
                <a:ea typeface="Montserrat"/>
                <a:cs typeface="Montserrat"/>
                <a:sym typeface="Montserrat"/>
              </a:rPr>
              <a:t>Input Embeddings</a:t>
            </a:r>
            <a:endParaRPr b="1" sz="1500">
              <a:solidFill>
                <a:srgbClr val="FEAE17"/>
              </a:solidFill>
              <a:latin typeface="Montserrat"/>
              <a:ea typeface="Montserrat"/>
              <a:cs typeface="Montserrat"/>
              <a:sym typeface="Montserrat"/>
            </a:endParaRPr>
          </a:p>
        </p:txBody>
      </p:sp>
      <p:sp>
        <p:nvSpPr>
          <p:cNvPr id="175" name="Google Shape;175;g2f0967dc895_0_108"/>
          <p:cNvSpPr/>
          <p:nvPr/>
        </p:nvSpPr>
        <p:spPr>
          <a:xfrm>
            <a:off x="497880" y="2321127"/>
            <a:ext cx="503400" cy="465300"/>
          </a:xfrm>
          <a:prstGeom prst="roundRect">
            <a:avLst>
              <a:gd fmla="val 32479" name="adj"/>
            </a:avLst>
          </a:prstGeom>
          <a:solidFill>
            <a:srgbClr val="9E9C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Calibri"/>
              <a:ea typeface="Calibri"/>
              <a:cs typeface="Calibri"/>
              <a:sym typeface="Calibri"/>
            </a:endParaRPr>
          </a:p>
        </p:txBody>
      </p:sp>
      <p:sp>
        <p:nvSpPr>
          <p:cNvPr id="176" name="Google Shape;176;g2f0967dc895_0_108"/>
          <p:cNvSpPr/>
          <p:nvPr/>
        </p:nvSpPr>
        <p:spPr>
          <a:xfrm>
            <a:off x="482683" y="2286527"/>
            <a:ext cx="534000" cy="534000"/>
          </a:xfrm>
          <a:prstGeom prst="ellipse">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100"/>
              <a:buFont typeface="Arial"/>
              <a:buNone/>
            </a:pPr>
            <a:r>
              <a:rPr b="1" lang="en-US" sz="2000">
                <a:solidFill>
                  <a:srgbClr val="FFFFFF"/>
                </a:solidFill>
                <a:latin typeface="Montserrat"/>
                <a:ea typeface="Montserrat"/>
                <a:cs typeface="Montserrat"/>
                <a:sym typeface="Montserrat"/>
              </a:rPr>
              <a:t>2</a:t>
            </a:r>
            <a:endParaRPr b="1" i="0" sz="2000" u="none" cap="none" strike="noStrike">
              <a:solidFill>
                <a:srgbClr val="FFFFFF"/>
              </a:solidFill>
              <a:latin typeface="Montserrat"/>
              <a:ea typeface="Montserrat"/>
              <a:cs typeface="Montserrat"/>
              <a:sym typeface="Montserrat"/>
            </a:endParaRPr>
          </a:p>
        </p:txBody>
      </p:sp>
      <p:sp>
        <p:nvSpPr>
          <p:cNvPr id="177" name="Google Shape;177;g2f0967dc895_0_108"/>
          <p:cNvSpPr txBox="1"/>
          <p:nvPr/>
        </p:nvSpPr>
        <p:spPr>
          <a:xfrm>
            <a:off x="1079534" y="2353527"/>
            <a:ext cx="2225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9E9CF1"/>
                </a:solidFill>
                <a:latin typeface="Montserrat"/>
                <a:ea typeface="Montserrat"/>
                <a:cs typeface="Montserrat"/>
                <a:sym typeface="Montserrat"/>
              </a:rPr>
              <a:t>Transformer Blocks</a:t>
            </a:r>
            <a:endParaRPr b="1" sz="1500">
              <a:solidFill>
                <a:srgbClr val="9E9CF1"/>
              </a:solidFill>
              <a:latin typeface="Montserrat"/>
              <a:ea typeface="Montserrat"/>
              <a:cs typeface="Montserrat"/>
              <a:sym typeface="Montserrat"/>
            </a:endParaRPr>
          </a:p>
        </p:txBody>
      </p:sp>
      <p:sp>
        <p:nvSpPr>
          <p:cNvPr id="178" name="Google Shape;178;g2f0967dc895_0_108"/>
          <p:cNvSpPr/>
          <p:nvPr/>
        </p:nvSpPr>
        <p:spPr>
          <a:xfrm>
            <a:off x="513079" y="3281777"/>
            <a:ext cx="503400" cy="465300"/>
          </a:xfrm>
          <a:prstGeom prst="roundRect">
            <a:avLst>
              <a:gd fmla="val 32479" name="adj"/>
            </a:avLst>
          </a:prstGeom>
          <a:solidFill>
            <a:srgbClr val="FEAE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Calibri"/>
              <a:ea typeface="Calibri"/>
              <a:cs typeface="Calibri"/>
              <a:sym typeface="Calibri"/>
            </a:endParaRPr>
          </a:p>
        </p:txBody>
      </p:sp>
      <p:sp>
        <p:nvSpPr>
          <p:cNvPr id="179" name="Google Shape;179;g2f0967dc895_0_108"/>
          <p:cNvSpPr/>
          <p:nvPr/>
        </p:nvSpPr>
        <p:spPr>
          <a:xfrm>
            <a:off x="497883" y="3247177"/>
            <a:ext cx="534000" cy="534000"/>
          </a:xfrm>
          <a:prstGeom prst="ellipse">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100"/>
              <a:buFont typeface="Arial"/>
              <a:buNone/>
            </a:pPr>
            <a:r>
              <a:rPr b="1" lang="en-US" sz="2000">
                <a:solidFill>
                  <a:srgbClr val="FFFFFF"/>
                </a:solidFill>
                <a:latin typeface="Montserrat"/>
                <a:ea typeface="Montserrat"/>
                <a:cs typeface="Montserrat"/>
                <a:sym typeface="Montserrat"/>
              </a:rPr>
              <a:t>3</a:t>
            </a:r>
            <a:endParaRPr b="1" i="0" sz="2000" u="none" cap="none" strike="noStrike">
              <a:solidFill>
                <a:srgbClr val="FFFFFF"/>
              </a:solidFill>
              <a:latin typeface="Montserrat"/>
              <a:ea typeface="Montserrat"/>
              <a:cs typeface="Montserrat"/>
              <a:sym typeface="Montserrat"/>
            </a:endParaRPr>
          </a:p>
        </p:txBody>
      </p:sp>
      <p:sp>
        <p:nvSpPr>
          <p:cNvPr id="180" name="Google Shape;180;g2f0967dc895_0_108"/>
          <p:cNvSpPr txBox="1"/>
          <p:nvPr/>
        </p:nvSpPr>
        <p:spPr>
          <a:xfrm>
            <a:off x="1094734" y="3314177"/>
            <a:ext cx="2225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FEAE17"/>
                </a:solidFill>
                <a:latin typeface="Montserrat"/>
                <a:ea typeface="Montserrat"/>
                <a:cs typeface="Montserrat"/>
                <a:sym typeface="Montserrat"/>
              </a:rPr>
              <a:t>Positional Encoding</a:t>
            </a:r>
            <a:endParaRPr b="1" sz="1500">
              <a:solidFill>
                <a:srgbClr val="FEAE17"/>
              </a:solidFill>
              <a:latin typeface="Montserrat"/>
              <a:ea typeface="Montserrat"/>
              <a:cs typeface="Montserrat"/>
              <a:sym typeface="Montserrat"/>
            </a:endParaRPr>
          </a:p>
        </p:txBody>
      </p:sp>
      <p:sp>
        <p:nvSpPr>
          <p:cNvPr id="181" name="Google Shape;181;g2f0967dc895_0_108"/>
          <p:cNvSpPr/>
          <p:nvPr/>
        </p:nvSpPr>
        <p:spPr>
          <a:xfrm>
            <a:off x="5660809" y="971300"/>
            <a:ext cx="5069400" cy="5151600"/>
          </a:xfrm>
          <a:prstGeom prst="roundRect">
            <a:avLst>
              <a:gd fmla="val 6829" name="adj"/>
            </a:avLst>
          </a:prstGeom>
          <a:noFill/>
          <a:ln cap="flat" cmpd="sng" w="28575">
            <a:solidFill>
              <a:srgbClr val="57A6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g2f0967dc895_0_108"/>
          <p:cNvSpPr txBox="1"/>
          <p:nvPr/>
        </p:nvSpPr>
        <p:spPr>
          <a:xfrm>
            <a:off x="6158109" y="2087950"/>
            <a:ext cx="4140600" cy="3577800"/>
          </a:xfrm>
          <a:prstGeom prst="rect">
            <a:avLst/>
          </a:prstGeom>
          <a:noFill/>
          <a:ln>
            <a:noFill/>
          </a:ln>
        </p:spPr>
        <p:txBody>
          <a:bodyPr anchorCtr="0" anchor="t" bIns="91425" lIns="91425" spcFirstLastPara="1" rIns="91425" wrap="square" tIns="91425">
            <a:noAutofit/>
          </a:bodyPr>
          <a:lstStyle/>
          <a:p>
            <a:pPr indent="0" lvl="0" marL="0" marR="5080" rtl="0" algn="l">
              <a:spcBef>
                <a:spcPts val="1000"/>
              </a:spcBef>
              <a:spcAft>
                <a:spcPts val="0"/>
              </a:spcAft>
              <a:buNone/>
            </a:pPr>
            <a:r>
              <a:rPr b="1" lang="en-US" sz="1500">
                <a:latin typeface="Montserrat"/>
                <a:ea typeface="Montserrat"/>
                <a:cs typeface="Montserrat"/>
                <a:sym typeface="Montserrat"/>
              </a:rPr>
              <a:t>Self-Attention Mechanism</a:t>
            </a:r>
            <a:r>
              <a:rPr lang="en-US" sz="1500">
                <a:latin typeface="Montserrat"/>
                <a:ea typeface="Montserrat"/>
                <a:cs typeface="Montserrat"/>
                <a:sym typeface="Montserrat"/>
              </a:rPr>
              <a:t> - It determines the importance of each word in relation to others in a sentence, allowing the model to focus on relevant parts of the input.</a:t>
            </a:r>
            <a:endParaRPr sz="1500">
              <a:latin typeface="Montserrat"/>
              <a:ea typeface="Montserrat"/>
              <a:cs typeface="Montserrat"/>
              <a:sym typeface="Montserrat"/>
            </a:endParaRPr>
          </a:p>
          <a:p>
            <a:pPr indent="0" lvl="0" marL="0" marR="5080" rtl="0" algn="l">
              <a:spcBef>
                <a:spcPts val="1000"/>
              </a:spcBef>
              <a:spcAft>
                <a:spcPts val="0"/>
              </a:spcAft>
              <a:buNone/>
            </a:pPr>
            <a:r>
              <a:t/>
            </a:r>
            <a:endParaRPr sz="1500">
              <a:latin typeface="Montserrat"/>
              <a:ea typeface="Montserrat"/>
              <a:cs typeface="Montserrat"/>
              <a:sym typeface="Montserrat"/>
            </a:endParaRPr>
          </a:p>
          <a:p>
            <a:pPr indent="0" lvl="0" marL="0" marR="5080" rtl="0" algn="l">
              <a:spcBef>
                <a:spcPts val="1000"/>
              </a:spcBef>
              <a:spcAft>
                <a:spcPts val="1000"/>
              </a:spcAft>
              <a:buNone/>
            </a:pPr>
            <a:r>
              <a:rPr lang="en-US" sz="1500">
                <a:latin typeface="Montserrat"/>
                <a:ea typeface="Montserrat"/>
                <a:cs typeface="Montserrat"/>
                <a:sym typeface="Montserrat"/>
              </a:rPr>
              <a:t>In the sentence "The cat sat on the mat," self-attention helps the model understand that "cat" and "sat" are related, and "on the mat" provides context for where the action occurred.</a:t>
            </a:r>
            <a:endParaRPr sz="1500">
              <a:latin typeface="Montserrat"/>
              <a:ea typeface="Montserrat"/>
              <a:cs typeface="Montserrat"/>
              <a:sym typeface="Montserrat"/>
            </a:endParaRPr>
          </a:p>
        </p:txBody>
      </p:sp>
      <p:sp>
        <p:nvSpPr>
          <p:cNvPr id="183" name="Google Shape;183;g2f0967dc895_0_108"/>
          <p:cNvSpPr txBox="1"/>
          <p:nvPr/>
        </p:nvSpPr>
        <p:spPr>
          <a:xfrm>
            <a:off x="6158116" y="1335545"/>
            <a:ext cx="2573700" cy="415500"/>
          </a:xfrm>
          <a:prstGeom prst="rect">
            <a:avLst/>
          </a:prstGeom>
          <a:noFill/>
          <a:ln>
            <a:noFill/>
          </a:ln>
        </p:spPr>
        <p:txBody>
          <a:bodyPr anchorCtr="0" anchor="t" bIns="91425" lIns="91425" spcFirstLastPara="1" rIns="91425" wrap="square" tIns="91425">
            <a:spAutoFit/>
          </a:bodyPr>
          <a:lstStyle/>
          <a:p>
            <a:pPr indent="0" lvl="0" marL="0" marR="5080" rtl="0" algn="l">
              <a:spcBef>
                <a:spcPts val="1000"/>
              </a:spcBef>
              <a:spcAft>
                <a:spcPts val="1000"/>
              </a:spcAft>
              <a:buNone/>
            </a:pPr>
            <a:r>
              <a:rPr b="1" lang="en-US" sz="1500">
                <a:solidFill>
                  <a:srgbClr val="57A6FF"/>
                </a:solidFill>
                <a:latin typeface="Montserrat"/>
                <a:ea typeface="Montserrat"/>
                <a:cs typeface="Montserrat"/>
                <a:sym typeface="Montserrat"/>
              </a:rPr>
              <a:t>Transformer Blocks</a:t>
            </a:r>
            <a:endParaRPr b="1" sz="1500">
              <a:solidFill>
                <a:srgbClr val="57A6FF"/>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27fe1aec3a5_0_42"/>
          <p:cNvSpPr txBox="1"/>
          <p:nvPr/>
        </p:nvSpPr>
        <p:spPr>
          <a:xfrm flipH="1">
            <a:off x="467500" y="207825"/>
            <a:ext cx="9520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lang="en-US" sz="2400">
                <a:solidFill>
                  <a:srgbClr val="675AB9"/>
                </a:solidFill>
                <a:latin typeface="Montserrat"/>
                <a:ea typeface="Montserrat"/>
                <a:cs typeface="Montserrat"/>
                <a:sym typeface="Montserrat"/>
              </a:rPr>
              <a:t>LLM Architecture - Key Components</a:t>
            </a:r>
            <a:endParaRPr b="1" sz="2400">
              <a:solidFill>
                <a:srgbClr val="675AB9"/>
              </a:solidFill>
              <a:latin typeface="Montserrat"/>
              <a:ea typeface="Montserrat"/>
              <a:cs typeface="Montserrat"/>
              <a:sym typeface="Montserrat"/>
            </a:endParaRPr>
          </a:p>
        </p:txBody>
      </p:sp>
      <p:sp>
        <p:nvSpPr>
          <p:cNvPr id="189" name="Google Shape;189;g27fe1aec3a5_0_42"/>
          <p:cNvSpPr/>
          <p:nvPr/>
        </p:nvSpPr>
        <p:spPr>
          <a:xfrm>
            <a:off x="482686" y="1427477"/>
            <a:ext cx="503400" cy="465300"/>
          </a:xfrm>
          <a:prstGeom prst="roundRect">
            <a:avLst>
              <a:gd fmla="val 32479" name="adj"/>
            </a:avLst>
          </a:prstGeom>
          <a:solidFill>
            <a:srgbClr val="FEAE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Calibri"/>
              <a:ea typeface="Calibri"/>
              <a:cs typeface="Calibri"/>
              <a:sym typeface="Calibri"/>
            </a:endParaRPr>
          </a:p>
        </p:txBody>
      </p:sp>
      <p:sp>
        <p:nvSpPr>
          <p:cNvPr id="190" name="Google Shape;190;g27fe1aec3a5_0_42"/>
          <p:cNvSpPr/>
          <p:nvPr/>
        </p:nvSpPr>
        <p:spPr>
          <a:xfrm>
            <a:off x="467490" y="1392877"/>
            <a:ext cx="534000" cy="534000"/>
          </a:xfrm>
          <a:prstGeom prst="ellipse">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100"/>
              <a:buFont typeface="Arial"/>
              <a:buNone/>
            </a:pPr>
            <a:r>
              <a:rPr b="1" lang="en-US" sz="2000">
                <a:solidFill>
                  <a:srgbClr val="FFFFFF"/>
                </a:solidFill>
                <a:latin typeface="Montserrat"/>
                <a:ea typeface="Montserrat"/>
                <a:cs typeface="Montserrat"/>
                <a:sym typeface="Montserrat"/>
              </a:rPr>
              <a:t>1</a:t>
            </a:r>
            <a:endParaRPr b="1" i="0" sz="2000" u="none" cap="none" strike="noStrike">
              <a:solidFill>
                <a:srgbClr val="FFFFFF"/>
              </a:solidFill>
              <a:latin typeface="Montserrat"/>
              <a:ea typeface="Montserrat"/>
              <a:cs typeface="Montserrat"/>
              <a:sym typeface="Montserrat"/>
            </a:endParaRPr>
          </a:p>
        </p:txBody>
      </p:sp>
      <p:sp>
        <p:nvSpPr>
          <p:cNvPr id="191" name="Google Shape;191;g27fe1aec3a5_0_42"/>
          <p:cNvSpPr txBox="1"/>
          <p:nvPr/>
        </p:nvSpPr>
        <p:spPr>
          <a:xfrm>
            <a:off x="1064341" y="1459877"/>
            <a:ext cx="2225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FEAE17"/>
                </a:solidFill>
                <a:latin typeface="Montserrat"/>
                <a:ea typeface="Montserrat"/>
                <a:cs typeface="Montserrat"/>
                <a:sym typeface="Montserrat"/>
              </a:rPr>
              <a:t>Input Embeddings</a:t>
            </a:r>
            <a:endParaRPr b="1" sz="1500">
              <a:solidFill>
                <a:srgbClr val="FEAE17"/>
              </a:solidFill>
              <a:latin typeface="Montserrat"/>
              <a:ea typeface="Montserrat"/>
              <a:cs typeface="Montserrat"/>
              <a:sym typeface="Montserrat"/>
            </a:endParaRPr>
          </a:p>
        </p:txBody>
      </p:sp>
      <p:sp>
        <p:nvSpPr>
          <p:cNvPr id="192" name="Google Shape;192;g27fe1aec3a5_0_42"/>
          <p:cNvSpPr/>
          <p:nvPr/>
        </p:nvSpPr>
        <p:spPr>
          <a:xfrm>
            <a:off x="497880" y="2321127"/>
            <a:ext cx="503400" cy="465300"/>
          </a:xfrm>
          <a:prstGeom prst="roundRect">
            <a:avLst>
              <a:gd fmla="val 32479" name="adj"/>
            </a:avLst>
          </a:prstGeom>
          <a:solidFill>
            <a:srgbClr val="9E9C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Calibri"/>
              <a:ea typeface="Calibri"/>
              <a:cs typeface="Calibri"/>
              <a:sym typeface="Calibri"/>
            </a:endParaRPr>
          </a:p>
        </p:txBody>
      </p:sp>
      <p:sp>
        <p:nvSpPr>
          <p:cNvPr id="193" name="Google Shape;193;g27fe1aec3a5_0_42"/>
          <p:cNvSpPr/>
          <p:nvPr/>
        </p:nvSpPr>
        <p:spPr>
          <a:xfrm>
            <a:off x="482683" y="2286527"/>
            <a:ext cx="534000" cy="534000"/>
          </a:xfrm>
          <a:prstGeom prst="ellipse">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100"/>
              <a:buFont typeface="Arial"/>
              <a:buNone/>
            </a:pPr>
            <a:r>
              <a:rPr b="1" lang="en-US" sz="2000">
                <a:solidFill>
                  <a:srgbClr val="FFFFFF"/>
                </a:solidFill>
                <a:latin typeface="Montserrat"/>
                <a:ea typeface="Montserrat"/>
                <a:cs typeface="Montserrat"/>
                <a:sym typeface="Montserrat"/>
              </a:rPr>
              <a:t>2</a:t>
            </a:r>
            <a:endParaRPr b="1" i="0" sz="2000" u="none" cap="none" strike="noStrike">
              <a:solidFill>
                <a:srgbClr val="FFFFFF"/>
              </a:solidFill>
              <a:latin typeface="Montserrat"/>
              <a:ea typeface="Montserrat"/>
              <a:cs typeface="Montserrat"/>
              <a:sym typeface="Montserrat"/>
            </a:endParaRPr>
          </a:p>
        </p:txBody>
      </p:sp>
      <p:sp>
        <p:nvSpPr>
          <p:cNvPr id="194" name="Google Shape;194;g27fe1aec3a5_0_42"/>
          <p:cNvSpPr txBox="1"/>
          <p:nvPr/>
        </p:nvSpPr>
        <p:spPr>
          <a:xfrm>
            <a:off x="1079534" y="2353527"/>
            <a:ext cx="2225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9E9CF1"/>
                </a:solidFill>
                <a:latin typeface="Montserrat"/>
                <a:ea typeface="Montserrat"/>
                <a:cs typeface="Montserrat"/>
                <a:sym typeface="Montserrat"/>
              </a:rPr>
              <a:t>Transformer Blocks</a:t>
            </a:r>
            <a:endParaRPr b="1" sz="1500">
              <a:solidFill>
                <a:srgbClr val="9E9CF1"/>
              </a:solidFill>
              <a:latin typeface="Montserrat"/>
              <a:ea typeface="Montserrat"/>
              <a:cs typeface="Montserrat"/>
              <a:sym typeface="Montserrat"/>
            </a:endParaRPr>
          </a:p>
        </p:txBody>
      </p:sp>
      <p:sp>
        <p:nvSpPr>
          <p:cNvPr id="195" name="Google Shape;195;g27fe1aec3a5_0_42"/>
          <p:cNvSpPr/>
          <p:nvPr/>
        </p:nvSpPr>
        <p:spPr>
          <a:xfrm>
            <a:off x="513079" y="3281777"/>
            <a:ext cx="503400" cy="465300"/>
          </a:xfrm>
          <a:prstGeom prst="roundRect">
            <a:avLst>
              <a:gd fmla="val 32479" name="adj"/>
            </a:avLst>
          </a:prstGeom>
          <a:solidFill>
            <a:srgbClr val="FEAE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Calibri"/>
              <a:ea typeface="Calibri"/>
              <a:cs typeface="Calibri"/>
              <a:sym typeface="Calibri"/>
            </a:endParaRPr>
          </a:p>
        </p:txBody>
      </p:sp>
      <p:sp>
        <p:nvSpPr>
          <p:cNvPr id="196" name="Google Shape;196;g27fe1aec3a5_0_42"/>
          <p:cNvSpPr/>
          <p:nvPr/>
        </p:nvSpPr>
        <p:spPr>
          <a:xfrm>
            <a:off x="497883" y="3247177"/>
            <a:ext cx="534000" cy="534000"/>
          </a:xfrm>
          <a:prstGeom prst="ellipse">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100"/>
              <a:buFont typeface="Arial"/>
              <a:buNone/>
            </a:pPr>
            <a:r>
              <a:rPr b="1" lang="en-US" sz="2000">
                <a:solidFill>
                  <a:srgbClr val="FFFFFF"/>
                </a:solidFill>
                <a:latin typeface="Montserrat"/>
                <a:ea typeface="Montserrat"/>
                <a:cs typeface="Montserrat"/>
                <a:sym typeface="Montserrat"/>
              </a:rPr>
              <a:t>3</a:t>
            </a:r>
            <a:endParaRPr b="1" i="0" sz="2000" u="none" cap="none" strike="noStrike">
              <a:solidFill>
                <a:srgbClr val="FFFFFF"/>
              </a:solidFill>
              <a:latin typeface="Montserrat"/>
              <a:ea typeface="Montserrat"/>
              <a:cs typeface="Montserrat"/>
              <a:sym typeface="Montserrat"/>
            </a:endParaRPr>
          </a:p>
        </p:txBody>
      </p:sp>
      <p:sp>
        <p:nvSpPr>
          <p:cNvPr id="197" name="Google Shape;197;g27fe1aec3a5_0_42"/>
          <p:cNvSpPr txBox="1"/>
          <p:nvPr/>
        </p:nvSpPr>
        <p:spPr>
          <a:xfrm>
            <a:off x="1094734" y="3314177"/>
            <a:ext cx="2225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FEAE17"/>
                </a:solidFill>
                <a:latin typeface="Montserrat"/>
                <a:ea typeface="Montserrat"/>
                <a:cs typeface="Montserrat"/>
                <a:sym typeface="Montserrat"/>
              </a:rPr>
              <a:t>Positional Encoding</a:t>
            </a:r>
            <a:endParaRPr b="1" sz="1500">
              <a:solidFill>
                <a:srgbClr val="FEAE17"/>
              </a:solidFill>
              <a:latin typeface="Montserrat"/>
              <a:ea typeface="Montserrat"/>
              <a:cs typeface="Montserrat"/>
              <a:sym typeface="Montserrat"/>
            </a:endParaRPr>
          </a:p>
        </p:txBody>
      </p:sp>
      <p:sp>
        <p:nvSpPr>
          <p:cNvPr id="198" name="Google Shape;198;g27fe1aec3a5_0_42"/>
          <p:cNvSpPr/>
          <p:nvPr/>
        </p:nvSpPr>
        <p:spPr>
          <a:xfrm>
            <a:off x="5660809" y="971300"/>
            <a:ext cx="5069400" cy="5151600"/>
          </a:xfrm>
          <a:prstGeom prst="roundRect">
            <a:avLst>
              <a:gd fmla="val 6829" name="adj"/>
            </a:avLst>
          </a:prstGeom>
          <a:noFill/>
          <a:ln cap="flat" cmpd="sng" w="28575">
            <a:solidFill>
              <a:srgbClr val="57A6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g27fe1aec3a5_0_42"/>
          <p:cNvSpPr txBox="1"/>
          <p:nvPr/>
        </p:nvSpPr>
        <p:spPr>
          <a:xfrm>
            <a:off x="6158109" y="2087950"/>
            <a:ext cx="4140600" cy="3577800"/>
          </a:xfrm>
          <a:prstGeom prst="rect">
            <a:avLst/>
          </a:prstGeom>
          <a:noFill/>
          <a:ln>
            <a:noFill/>
          </a:ln>
        </p:spPr>
        <p:txBody>
          <a:bodyPr anchorCtr="0" anchor="t" bIns="91425" lIns="91425" spcFirstLastPara="1" rIns="91425" wrap="square" tIns="91425">
            <a:noAutofit/>
          </a:bodyPr>
          <a:lstStyle/>
          <a:p>
            <a:pPr indent="0" lvl="0" marL="0" marR="5080" rtl="0" algn="l">
              <a:spcBef>
                <a:spcPts val="1000"/>
              </a:spcBef>
              <a:spcAft>
                <a:spcPts val="0"/>
              </a:spcAft>
              <a:buNone/>
            </a:pPr>
            <a:r>
              <a:rPr b="1" lang="en-US" sz="1500">
                <a:latin typeface="Montserrat"/>
                <a:ea typeface="Montserrat"/>
                <a:cs typeface="Montserrat"/>
                <a:sym typeface="Montserrat"/>
              </a:rPr>
              <a:t>Feed-Forward Neural Networks</a:t>
            </a:r>
            <a:r>
              <a:rPr lang="en-US" sz="1500">
                <a:latin typeface="Montserrat"/>
                <a:ea typeface="Montserrat"/>
                <a:cs typeface="Montserrat"/>
                <a:sym typeface="Montserrat"/>
              </a:rPr>
              <a:t> - It processes the output from the self-attention mechanism to produce more refined features.</a:t>
            </a:r>
            <a:endParaRPr sz="1500">
              <a:latin typeface="Montserrat"/>
              <a:ea typeface="Montserrat"/>
              <a:cs typeface="Montserrat"/>
              <a:sym typeface="Montserrat"/>
            </a:endParaRPr>
          </a:p>
          <a:p>
            <a:pPr indent="0" lvl="0" marL="0" marR="5080" rtl="0" algn="l">
              <a:spcBef>
                <a:spcPts val="1000"/>
              </a:spcBef>
              <a:spcAft>
                <a:spcPts val="0"/>
              </a:spcAft>
              <a:buNone/>
            </a:pPr>
            <a:r>
              <a:t/>
            </a:r>
            <a:endParaRPr sz="1500">
              <a:latin typeface="Montserrat"/>
              <a:ea typeface="Montserrat"/>
              <a:cs typeface="Montserrat"/>
              <a:sym typeface="Montserrat"/>
            </a:endParaRPr>
          </a:p>
          <a:p>
            <a:pPr indent="0" lvl="0" marL="0" marR="5080" rtl="0" algn="l">
              <a:spcBef>
                <a:spcPts val="1000"/>
              </a:spcBef>
              <a:spcAft>
                <a:spcPts val="1000"/>
              </a:spcAft>
              <a:buNone/>
            </a:pPr>
            <a:r>
              <a:rPr lang="en-US" sz="1500">
                <a:latin typeface="Montserrat"/>
                <a:ea typeface="Montserrat"/>
                <a:cs typeface="Montserrat"/>
                <a:sym typeface="Montserrat"/>
              </a:rPr>
              <a:t>After self-attention processes the sentence, the feed-forward network refines the representation to better capture the overall meaning.</a:t>
            </a:r>
            <a:endParaRPr sz="1500">
              <a:latin typeface="Montserrat"/>
              <a:ea typeface="Montserrat"/>
              <a:cs typeface="Montserrat"/>
              <a:sym typeface="Montserrat"/>
            </a:endParaRPr>
          </a:p>
        </p:txBody>
      </p:sp>
      <p:sp>
        <p:nvSpPr>
          <p:cNvPr id="200" name="Google Shape;200;g27fe1aec3a5_0_42"/>
          <p:cNvSpPr txBox="1"/>
          <p:nvPr/>
        </p:nvSpPr>
        <p:spPr>
          <a:xfrm>
            <a:off x="6158116" y="1335545"/>
            <a:ext cx="2573700" cy="415500"/>
          </a:xfrm>
          <a:prstGeom prst="rect">
            <a:avLst/>
          </a:prstGeom>
          <a:noFill/>
          <a:ln>
            <a:noFill/>
          </a:ln>
        </p:spPr>
        <p:txBody>
          <a:bodyPr anchorCtr="0" anchor="t" bIns="91425" lIns="91425" spcFirstLastPara="1" rIns="91425" wrap="square" tIns="91425">
            <a:spAutoFit/>
          </a:bodyPr>
          <a:lstStyle/>
          <a:p>
            <a:pPr indent="0" lvl="0" marL="0" marR="5080" rtl="0" algn="l">
              <a:spcBef>
                <a:spcPts val="1000"/>
              </a:spcBef>
              <a:spcAft>
                <a:spcPts val="1000"/>
              </a:spcAft>
              <a:buNone/>
            </a:pPr>
            <a:r>
              <a:rPr b="1" lang="en-US" sz="1500">
                <a:solidFill>
                  <a:srgbClr val="57A6FF"/>
                </a:solidFill>
                <a:latin typeface="Montserrat"/>
                <a:ea typeface="Montserrat"/>
                <a:cs typeface="Montserrat"/>
                <a:sym typeface="Montserrat"/>
              </a:rPr>
              <a:t>Transformer Blocks</a:t>
            </a:r>
            <a:endParaRPr b="1" sz="1500">
              <a:solidFill>
                <a:srgbClr val="57A6FF"/>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27fe1aec3a5_0_61"/>
          <p:cNvSpPr txBox="1"/>
          <p:nvPr/>
        </p:nvSpPr>
        <p:spPr>
          <a:xfrm flipH="1">
            <a:off x="467500" y="207825"/>
            <a:ext cx="9520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lang="en-US" sz="2400">
                <a:solidFill>
                  <a:srgbClr val="675AB9"/>
                </a:solidFill>
                <a:latin typeface="Montserrat"/>
                <a:ea typeface="Montserrat"/>
                <a:cs typeface="Montserrat"/>
                <a:sym typeface="Montserrat"/>
              </a:rPr>
              <a:t>LLM Architecture - Key Components</a:t>
            </a:r>
            <a:endParaRPr b="1" sz="2400">
              <a:solidFill>
                <a:srgbClr val="675AB9"/>
              </a:solidFill>
              <a:latin typeface="Montserrat"/>
              <a:ea typeface="Montserrat"/>
              <a:cs typeface="Montserrat"/>
              <a:sym typeface="Montserrat"/>
            </a:endParaRPr>
          </a:p>
        </p:txBody>
      </p:sp>
      <p:sp>
        <p:nvSpPr>
          <p:cNvPr id="206" name="Google Shape;206;g27fe1aec3a5_0_61"/>
          <p:cNvSpPr/>
          <p:nvPr/>
        </p:nvSpPr>
        <p:spPr>
          <a:xfrm>
            <a:off x="482686" y="1427477"/>
            <a:ext cx="503400" cy="465300"/>
          </a:xfrm>
          <a:prstGeom prst="roundRect">
            <a:avLst>
              <a:gd fmla="val 32479" name="adj"/>
            </a:avLst>
          </a:prstGeom>
          <a:solidFill>
            <a:srgbClr val="FEAE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Calibri"/>
              <a:ea typeface="Calibri"/>
              <a:cs typeface="Calibri"/>
              <a:sym typeface="Calibri"/>
            </a:endParaRPr>
          </a:p>
        </p:txBody>
      </p:sp>
      <p:sp>
        <p:nvSpPr>
          <p:cNvPr id="207" name="Google Shape;207;g27fe1aec3a5_0_61"/>
          <p:cNvSpPr/>
          <p:nvPr/>
        </p:nvSpPr>
        <p:spPr>
          <a:xfrm>
            <a:off x="467490" y="1392877"/>
            <a:ext cx="534000" cy="534000"/>
          </a:xfrm>
          <a:prstGeom prst="ellipse">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100"/>
              <a:buFont typeface="Arial"/>
              <a:buNone/>
            </a:pPr>
            <a:r>
              <a:rPr b="1" lang="en-US" sz="2000">
                <a:solidFill>
                  <a:srgbClr val="FFFFFF"/>
                </a:solidFill>
                <a:latin typeface="Montserrat"/>
                <a:ea typeface="Montserrat"/>
                <a:cs typeface="Montserrat"/>
                <a:sym typeface="Montserrat"/>
              </a:rPr>
              <a:t>1</a:t>
            </a:r>
            <a:endParaRPr b="1" i="0" sz="2000" u="none" cap="none" strike="noStrike">
              <a:solidFill>
                <a:srgbClr val="FFFFFF"/>
              </a:solidFill>
              <a:latin typeface="Montserrat"/>
              <a:ea typeface="Montserrat"/>
              <a:cs typeface="Montserrat"/>
              <a:sym typeface="Montserrat"/>
            </a:endParaRPr>
          </a:p>
        </p:txBody>
      </p:sp>
      <p:sp>
        <p:nvSpPr>
          <p:cNvPr id="208" name="Google Shape;208;g27fe1aec3a5_0_61"/>
          <p:cNvSpPr txBox="1"/>
          <p:nvPr/>
        </p:nvSpPr>
        <p:spPr>
          <a:xfrm>
            <a:off x="1064341" y="1459877"/>
            <a:ext cx="2225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FEAE17"/>
                </a:solidFill>
                <a:latin typeface="Montserrat"/>
                <a:ea typeface="Montserrat"/>
                <a:cs typeface="Montserrat"/>
                <a:sym typeface="Montserrat"/>
              </a:rPr>
              <a:t>Input Embeddings</a:t>
            </a:r>
            <a:endParaRPr b="1" sz="1500">
              <a:solidFill>
                <a:srgbClr val="FEAE17"/>
              </a:solidFill>
              <a:latin typeface="Montserrat"/>
              <a:ea typeface="Montserrat"/>
              <a:cs typeface="Montserrat"/>
              <a:sym typeface="Montserrat"/>
            </a:endParaRPr>
          </a:p>
        </p:txBody>
      </p:sp>
      <p:sp>
        <p:nvSpPr>
          <p:cNvPr id="209" name="Google Shape;209;g27fe1aec3a5_0_61"/>
          <p:cNvSpPr/>
          <p:nvPr/>
        </p:nvSpPr>
        <p:spPr>
          <a:xfrm>
            <a:off x="497880" y="2321127"/>
            <a:ext cx="503400" cy="465300"/>
          </a:xfrm>
          <a:prstGeom prst="roundRect">
            <a:avLst>
              <a:gd fmla="val 32479" name="adj"/>
            </a:avLst>
          </a:prstGeom>
          <a:solidFill>
            <a:srgbClr val="9E9C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Calibri"/>
              <a:ea typeface="Calibri"/>
              <a:cs typeface="Calibri"/>
              <a:sym typeface="Calibri"/>
            </a:endParaRPr>
          </a:p>
        </p:txBody>
      </p:sp>
      <p:sp>
        <p:nvSpPr>
          <p:cNvPr id="210" name="Google Shape;210;g27fe1aec3a5_0_61"/>
          <p:cNvSpPr/>
          <p:nvPr/>
        </p:nvSpPr>
        <p:spPr>
          <a:xfrm>
            <a:off x="482683" y="2286527"/>
            <a:ext cx="534000" cy="534000"/>
          </a:xfrm>
          <a:prstGeom prst="ellipse">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100"/>
              <a:buFont typeface="Arial"/>
              <a:buNone/>
            </a:pPr>
            <a:r>
              <a:rPr b="1" lang="en-US" sz="2000">
                <a:solidFill>
                  <a:srgbClr val="FFFFFF"/>
                </a:solidFill>
                <a:latin typeface="Montserrat"/>
                <a:ea typeface="Montserrat"/>
                <a:cs typeface="Montserrat"/>
                <a:sym typeface="Montserrat"/>
              </a:rPr>
              <a:t>2</a:t>
            </a:r>
            <a:endParaRPr b="1" i="0" sz="2000" u="none" cap="none" strike="noStrike">
              <a:solidFill>
                <a:srgbClr val="FFFFFF"/>
              </a:solidFill>
              <a:latin typeface="Montserrat"/>
              <a:ea typeface="Montserrat"/>
              <a:cs typeface="Montserrat"/>
              <a:sym typeface="Montserrat"/>
            </a:endParaRPr>
          </a:p>
        </p:txBody>
      </p:sp>
      <p:sp>
        <p:nvSpPr>
          <p:cNvPr id="211" name="Google Shape;211;g27fe1aec3a5_0_61"/>
          <p:cNvSpPr txBox="1"/>
          <p:nvPr/>
        </p:nvSpPr>
        <p:spPr>
          <a:xfrm>
            <a:off x="1079534" y="2353527"/>
            <a:ext cx="2225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9E9CF1"/>
                </a:solidFill>
                <a:latin typeface="Montserrat"/>
                <a:ea typeface="Montserrat"/>
                <a:cs typeface="Montserrat"/>
                <a:sym typeface="Montserrat"/>
              </a:rPr>
              <a:t>Transformer Blocks</a:t>
            </a:r>
            <a:endParaRPr b="1" sz="1500">
              <a:solidFill>
                <a:srgbClr val="9E9CF1"/>
              </a:solidFill>
              <a:latin typeface="Montserrat"/>
              <a:ea typeface="Montserrat"/>
              <a:cs typeface="Montserrat"/>
              <a:sym typeface="Montserrat"/>
            </a:endParaRPr>
          </a:p>
        </p:txBody>
      </p:sp>
      <p:sp>
        <p:nvSpPr>
          <p:cNvPr id="212" name="Google Shape;212;g27fe1aec3a5_0_61"/>
          <p:cNvSpPr/>
          <p:nvPr/>
        </p:nvSpPr>
        <p:spPr>
          <a:xfrm>
            <a:off x="513079" y="3281777"/>
            <a:ext cx="503400" cy="465300"/>
          </a:xfrm>
          <a:prstGeom prst="roundRect">
            <a:avLst>
              <a:gd fmla="val 32479" name="adj"/>
            </a:avLst>
          </a:prstGeom>
          <a:solidFill>
            <a:srgbClr val="FEAE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Calibri"/>
              <a:ea typeface="Calibri"/>
              <a:cs typeface="Calibri"/>
              <a:sym typeface="Calibri"/>
            </a:endParaRPr>
          </a:p>
        </p:txBody>
      </p:sp>
      <p:sp>
        <p:nvSpPr>
          <p:cNvPr id="213" name="Google Shape;213;g27fe1aec3a5_0_61"/>
          <p:cNvSpPr/>
          <p:nvPr/>
        </p:nvSpPr>
        <p:spPr>
          <a:xfrm>
            <a:off x="497883" y="3247177"/>
            <a:ext cx="534000" cy="534000"/>
          </a:xfrm>
          <a:prstGeom prst="ellipse">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100"/>
              <a:buFont typeface="Arial"/>
              <a:buNone/>
            </a:pPr>
            <a:r>
              <a:rPr b="1" lang="en-US" sz="2000">
                <a:solidFill>
                  <a:srgbClr val="FFFFFF"/>
                </a:solidFill>
                <a:latin typeface="Montserrat"/>
                <a:ea typeface="Montserrat"/>
                <a:cs typeface="Montserrat"/>
                <a:sym typeface="Montserrat"/>
              </a:rPr>
              <a:t>3</a:t>
            </a:r>
            <a:endParaRPr b="1" i="0" sz="2000" u="none" cap="none" strike="noStrike">
              <a:solidFill>
                <a:srgbClr val="FFFFFF"/>
              </a:solidFill>
              <a:latin typeface="Montserrat"/>
              <a:ea typeface="Montserrat"/>
              <a:cs typeface="Montserrat"/>
              <a:sym typeface="Montserrat"/>
            </a:endParaRPr>
          </a:p>
        </p:txBody>
      </p:sp>
      <p:sp>
        <p:nvSpPr>
          <p:cNvPr id="214" name="Google Shape;214;g27fe1aec3a5_0_61"/>
          <p:cNvSpPr txBox="1"/>
          <p:nvPr/>
        </p:nvSpPr>
        <p:spPr>
          <a:xfrm>
            <a:off x="1094734" y="3314177"/>
            <a:ext cx="2225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FEAE17"/>
                </a:solidFill>
                <a:latin typeface="Montserrat"/>
                <a:ea typeface="Montserrat"/>
                <a:cs typeface="Montserrat"/>
                <a:sym typeface="Montserrat"/>
              </a:rPr>
              <a:t>Positional Encoding</a:t>
            </a:r>
            <a:endParaRPr b="1" sz="1500">
              <a:solidFill>
                <a:srgbClr val="FEAE17"/>
              </a:solidFill>
              <a:latin typeface="Montserrat"/>
              <a:ea typeface="Montserrat"/>
              <a:cs typeface="Montserrat"/>
              <a:sym typeface="Montserrat"/>
            </a:endParaRPr>
          </a:p>
        </p:txBody>
      </p:sp>
      <p:sp>
        <p:nvSpPr>
          <p:cNvPr id="215" name="Google Shape;215;g27fe1aec3a5_0_61"/>
          <p:cNvSpPr/>
          <p:nvPr/>
        </p:nvSpPr>
        <p:spPr>
          <a:xfrm>
            <a:off x="5660809" y="971300"/>
            <a:ext cx="5069400" cy="5151600"/>
          </a:xfrm>
          <a:prstGeom prst="roundRect">
            <a:avLst>
              <a:gd fmla="val 6829" name="adj"/>
            </a:avLst>
          </a:prstGeom>
          <a:noFill/>
          <a:ln cap="flat" cmpd="sng" w="28575">
            <a:solidFill>
              <a:srgbClr val="57A6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g27fe1aec3a5_0_61"/>
          <p:cNvSpPr txBox="1"/>
          <p:nvPr/>
        </p:nvSpPr>
        <p:spPr>
          <a:xfrm>
            <a:off x="6158109" y="2087950"/>
            <a:ext cx="4140600" cy="3577800"/>
          </a:xfrm>
          <a:prstGeom prst="rect">
            <a:avLst/>
          </a:prstGeom>
          <a:noFill/>
          <a:ln>
            <a:noFill/>
          </a:ln>
        </p:spPr>
        <p:txBody>
          <a:bodyPr anchorCtr="0" anchor="t" bIns="91425" lIns="91425" spcFirstLastPara="1" rIns="91425" wrap="square" tIns="91425">
            <a:noAutofit/>
          </a:bodyPr>
          <a:lstStyle/>
          <a:p>
            <a:pPr indent="0" lvl="0" marL="0" marR="5080" rtl="0" algn="l">
              <a:spcBef>
                <a:spcPts val="1000"/>
              </a:spcBef>
              <a:spcAft>
                <a:spcPts val="0"/>
              </a:spcAft>
              <a:buNone/>
            </a:pPr>
            <a:r>
              <a:rPr lang="en-US" sz="1500">
                <a:latin typeface="Montserrat"/>
                <a:ea typeface="Montserrat"/>
                <a:cs typeface="Montserrat"/>
                <a:sym typeface="Montserrat"/>
              </a:rPr>
              <a:t>It adds information about the position of each word in the sentence since transformers do not process sequences in order.</a:t>
            </a:r>
            <a:endParaRPr sz="1500">
              <a:latin typeface="Montserrat"/>
              <a:ea typeface="Montserrat"/>
              <a:cs typeface="Montserrat"/>
              <a:sym typeface="Montserrat"/>
            </a:endParaRPr>
          </a:p>
          <a:p>
            <a:pPr indent="0" lvl="0" marL="0" marR="5080" rtl="0" algn="l">
              <a:spcBef>
                <a:spcPts val="1000"/>
              </a:spcBef>
              <a:spcAft>
                <a:spcPts val="0"/>
              </a:spcAft>
              <a:buNone/>
            </a:pPr>
            <a:r>
              <a:t/>
            </a:r>
            <a:endParaRPr sz="1500">
              <a:latin typeface="Montserrat"/>
              <a:ea typeface="Montserrat"/>
              <a:cs typeface="Montserrat"/>
              <a:sym typeface="Montserrat"/>
            </a:endParaRPr>
          </a:p>
          <a:p>
            <a:pPr indent="0" lvl="0" marL="0" marR="5080" rtl="0" algn="l">
              <a:spcBef>
                <a:spcPts val="1000"/>
              </a:spcBef>
              <a:spcAft>
                <a:spcPts val="1000"/>
              </a:spcAft>
              <a:buNone/>
            </a:pPr>
            <a:r>
              <a:rPr lang="en-US" sz="1500">
                <a:latin typeface="Montserrat"/>
                <a:ea typeface="Montserrat"/>
                <a:cs typeface="Montserrat"/>
                <a:sym typeface="Montserrat"/>
              </a:rPr>
              <a:t>Positional encodings ensure the model knows that "cat" is the subject and "sat" is the verb, even though the model processes the entire sentence simultaneously.</a:t>
            </a:r>
            <a:endParaRPr sz="1500">
              <a:latin typeface="Montserrat"/>
              <a:ea typeface="Montserrat"/>
              <a:cs typeface="Montserrat"/>
              <a:sym typeface="Montserrat"/>
            </a:endParaRPr>
          </a:p>
        </p:txBody>
      </p:sp>
      <p:sp>
        <p:nvSpPr>
          <p:cNvPr id="217" name="Google Shape;217;g27fe1aec3a5_0_61"/>
          <p:cNvSpPr txBox="1"/>
          <p:nvPr/>
        </p:nvSpPr>
        <p:spPr>
          <a:xfrm>
            <a:off x="6158116" y="1335545"/>
            <a:ext cx="2573700" cy="415500"/>
          </a:xfrm>
          <a:prstGeom prst="rect">
            <a:avLst/>
          </a:prstGeom>
          <a:noFill/>
          <a:ln>
            <a:noFill/>
          </a:ln>
        </p:spPr>
        <p:txBody>
          <a:bodyPr anchorCtr="0" anchor="t" bIns="91425" lIns="91425" spcFirstLastPara="1" rIns="91425" wrap="square" tIns="91425">
            <a:spAutoFit/>
          </a:bodyPr>
          <a:lstStyle/>
          <a:p>
            <a:pPr indent="0" lvl="0" marL="0" marR="5080" rtl="0" algn="l">
              <a:spcBef>
                <a:spcPts val="1000"/>
              </a:spcBef>
              <a:spcAft>
                <a:spcPts val="1000"/>
              </a:spcAft>
              <a:buNone/>
            </a:pPr>
            <a:r>
              <a:rPr b="1" lang="en-US" sz="1500">
                <a:solidFill>
                  <a:schemeClr val="accent4"/>
                </a:solidFill>
                <a:latin typeface="Montserrat"/>
                <a:ea typeface="Montserrat"/>
                <a:cs typeface="Montserrat"/>
                <a:sym typeface="Montserrat"/>
              </a:rPr>
              <a:t>Positional Encoding</a:t>
            </a:r>
            <a:endParaRPr b="1" sz="1500">
              <a:solidFill>
                <a:schemeClr val="accent4"/>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27fe1aec3a5_0_79"/>
          <p:cNvSpPr txBox="1"/>
          <p:nvPr/>
        </p:nvSpPr>
        <p:spPr>
          <a:xfrm flipH="1">
            <a:off x="467500" y="207825"/>
            <a:ext cx="9520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lang="en-US" sz="2400">
                <a:solidFill>
                  <a:srgbClr val="675AB9"/>
                </a:solidFill>
                <a:latin typeface="Montserrat"/>
                <a:ea typeface="Montserrat"/>
                <a:cs typeface="Montserrat"/>
                <a:sym typeface="Montserrat"/>
              </a:rPr>
              <a:t>LLM Architecture - How it Works?</a:t>
            </a:r>
            <a:endParaRPr b="1" sz="2400">
              <a:solidFill>
                <a:srgbClr val="675AB9"/>
              </a:solidFill>
              <a:latin typeface="Montserrat"/>
              <a:ea typeface="Montserrat"/>
              <a:cs typeface="Montserrat"/>
              <a:sym typeface="Montserrat"/>
            </a:endParaRPr>
          </a:p>
        </p:txBody>
      </p:sp>
      <p:sp>
        <p:nvSpPr>
          <p:cNvPr id="223" name="Google Shape;223;g27fe1aec3a5_0_79"/>
          <p:cNvSpPr/>
          <p:nvPr/>
        </p:nvSpPr>
        <p:spPr>
          <a:xfrm>
            <a:off x="1176313" y="1433922"/>
            <a:ext cx="520800" cy="481200"/>
          </a:xfrm>
          <a:prstGeom prst="roundRect">
            <a:avLst>
              <a:gd fmla="val 32479" name="adj"/>
            </a:avLst>
          </a:prstGeom>
          <a:solidFill>
            <a:srgbClr val="FE646F"/>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2000">
              <a:latin typeface="Calibri"/>
              <a:ea typeface="Calibri"/>
              <a:cs typeface="Calibri"/>
              <a:sym typeface="Calibri"/>
            </a:endParaRPr>
          </a:p>
        </p:txBody>
      </p:sp>
      <p:sp>
        <p:nvSpPr>
          <p:cNvPr id="224" name="Google Shape;224;g27fe1aec3a5_0_79"/>
          <p:cNvSpPr/>
          <p:nvPr/>
        </p:nvSpPr>
        <p:spPr>
          <a:xfrm>
            <a:off x="1176248" y="1413725"/>
            <a:ext cx="520800" cy="520800"/>
          </a:xfrm>
          <a:prstGeom prst="ellipse">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4100"/>
              <a:buFont typeface="Arial"/>
              <a:buNone/>
            </a:pPr>
            <a:r>
              <a:rPr b="1" lang="en-US" sz="2100">
                <a:solidFill>
                  <a:srgbClr val="FFFFFF"/>
                </a:solidFill>
                <a:latin typeface="Montserrat"/>
                <a:ea typeface="Montserrat"/>
                <a:cs typeface="Montserrat"/>
                <a:sym typeface="Montserrat"/>
              </a:rPr>
              <a:t>1</a:t>
            </a:r>
            <a:endParaRPr b="1" i="0" sz="2100" u="none" cap="none" strike="noStrike">
              <a:solidFill>
                <a:srgbClr val="FFFFFF"/>
              </a:solidFill>
              <a:latin typeface="Montserrat"/>
              <a:ea typeface="Montserrat"/>
              <a:cs typeface="Montserrat"/>
              <a:sym typeface="Montserrat"/>
            </a:endParaRPr>
          </a:p>
        </p:txBody>
      </p:sp>
      <p:sp>
        <p:nvSpPr>
          <p:cNvPr id="225" name="Google Shape;225;g27fe1aec3a5_0_79"/>
          <p:cNvSpPr txBox="1"/>
          <p:nvPr/>
        </p:nvSpPr>
        <p:spPr>
          <a:xfrm>
            <a:off x="1673385" y="1407528"/>
            <a:ext cx="2967300" cy="5385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b="1" lang="en-US" sz="1900">
                <a:solidFill>
                  <a:srgbClr val="FE646F"/>
                </a:solidFill>
                <a:latin typeface="Montserrat"/>
                <a:ea typeface="Montserrat"/>
                <a:cs typeface="Montserrat"/>
                <a:sym typeface="Montserrat"/>
              </a:rPr>
              <a:t>Input Embedding</a:t>
            </a:r>
            <a:endParaRPr b="1" sz="1900">
              <a:solidFill>
                <a:srgbClr val="FE646F"/>
              </a:solidFill>
              <a:latin typeface="Montserrat"/>
              <a:ea typeface="Montserrat"/>
              <a:cs typeface="Montserrat"/>
              <a:sym typeface="Montserrat"/>
            </a:endParaRPr>
          </a:p>
        </p:txBody>
      </p:sp>
      <p:sp>
        <p:nvSpPr>
          <p:cNvPr id="226" name="Google Shape;226;g27fe1aec3a5_0_79"/>
          <p:cNvSpPr txBox="1"/>
          <p:nvPr/>
        </p:nvSpPr>
        <p:spPr>
          <a:xfrm>
            <a:off x="1055691" y="1949650"/>
            <a:ext cx="6386100" cy="1364700"/>
          </a:xfrm>
          <a:prstGeom prst="rect">
            <a:avLst/>
          </a:prstGeom>
          <a:noFill/>
          <a:ln>
            <a:noFill/>
          </a:ln>
        </p:spPr>
        <p:txBody>
          <a:bodyPr anchorCtr="0" anchor="t" bIns="121875" lIns="121875" spcFirstLastPara="1" rIns="121875" wrap="square" tIns="121875">
            <a:noAutofit/>
          </a:bodyPr>
          <a:lstStyle/>
          <a:p>
            <a:pPr indent="0" lvl="0" marL="0" rtl="0" algn="l">
              <a:lnSpc>
                <a:spcPct val="150000"/>
              </a:lnSpc>
              <a:spcBef>
                <a:spcPts val="0"/>
              </a:spcBef>
              <a:spcAft>
                <a:spcPts val="0"/>
              </a:spcAft>
              <a:buClr>
                <a:srgbClr val="000000"/>
              </a:buClr>
              <a:buSzPts val="1500"/>
              <a:buFont typeface="Arial"/>
              <a:buNone/>
            </a:pPr>
            <a:r>
              <a:rPr lang="en-US" sz="1500">
                <a:latin typeface="Montserrat"/>
                <a:ea typeface="Montserrat"/>
                <a:cs typeface="Montserrat"/>
                <a:sym typeface="Montserrat"/>
              </a:rPr>
              <a:t> “The scientist observed the new data carefully.”</a:t>
            </a:r>
            <a:endParaRPr sz="1500">
              <a:solidFill>
                <a:srgbClr val="000000"/>
              </a:solidFill>
              <a:latin typeface="Montserrat"/>
              <a:ea typeface="Montserrat"/>
              <a:cs typeface="Montserrat"/>
              <a:sym typeface="Montserrat"/>
            </a:endParaRPr>
          </a:p>
        </p:txBody>
      </p:sp>
      <p:sp>
        <p:nvSpPr>
          <p:cNvPr id="227" name="Google Shape;227;g27fe1aec3a5_0_79"/>
          <p:cNvSpPr/>
          <p:nvPr/>
        </p:nvSpPr>
        <p:spPr>
          <a:xfrm>
            <a:off x="1267793" y="2890692"/>
            <a:ext cx="3725100" cy="1915500"/>
          </a:xfrm>
          <a:prstGeom prst="roundRect">
            <a:avLst>
              <a:gd fmla="val 16667" name="adj"/>
            </a:avLst>
          </a:prstGeom>
          <a:solidFill>
            <a:srgbClr val="89BDD1">
              <a:alpha val="20000"/>
            </a:srgbClr>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Calibri"/>
              <a:ea typeface="Calibri"/>
              <a:cs typeface="Calibri"/>
              <a:sym typeface="Calibri"/>
            </a:endParaRPr>
          </a:p>
        </p:txBody>
      </p:sp>
      <p:sp>
        <p:nvSpPr>
          <p:cNvPr id="228" name="Google Shape;228;g27fe1aec3a5_0_79"/>
          <p:cNvSpPr txBox="1"/>
          <p:nvPr/>
        </p:nvSpPr>
        <p:spPr>
          <a:xfrm>
            <a:off x="1267788" y="3056662"/>
            <a:ext cx="3631500" cy="1364700"/>
          </a:xfrm>
          <a:prstGeom prst="rect">
            <a:avLst/>
          </a:prstGeom>
          <a:noFill/>
          <a:ln>
            <a:noFill/>
          </a:ln>
        </p:spPr>
        <p:txBody>
          <a:bodyPr anchorCtr="0" anchor="t" bIns="121875" lIns="121875" spcFirstLastPara="1" rIns="121875" wrap="square" tIns="121875">
            <a:noAutofit/>
          </a:bodyPr>
          <a:lstStyle/>
          <a:p>
            <a:pPr indent="0" lvl="0" marL="0" rtl="0" algn="ctr">
              <a:lnSpc>
                <a:spcPct val="150000"/>
              </a:lnSpc>
              <a:spcBef>
                <a:spcPts val="0"/>
              </a:spcBef>
              <a:spcAft>
                <a:spcPts val="0"/>
              </a:spcAft>
              <a:buClr>
                <a:srgbClr val="000000"/>
              </a:buClr>
              <a:buSzPts val="1500"/>
              <a:buFont typeface="Arial"/>
              <a:buNone/>
            </a:pPr>
            <a:r>
              <a:rPr lang="en-US" sz="1600">
                <a:latin typeface="Montserrat"/>
                <a:ea typeface="Montserrat"/>
                <a:cs typeface="Montserrat"/>
                <a:sym typeface="Montserrat"/>
              </a:rPr>
              <a:t>Transform the Sentence into Vectors - Each word in the sentence is converted into a dense vector representation.</a:t>
            </a:r>
            <a:endParaRPr sz="1600">
              <a:solidFill>
                <a:srgbClr val="000000"/>
              </a:solidFill>
              <a:latin typeface="Montserrat"/>
              <a:ea typeface="Montserrat"/>
              <a:cs typeface="Montserrat"/>
              <a:sym typeface="Montserrat"/>
            </a:endParaRPr>
          </a:p>
        </p:txBody>
      </p:sp>
      <p:pic>
        <p:nvPicPr>
          <p:cNvPr id="229" name="Google Shape;229;g27fe1aec3a5_0_79"/>
          <p:cNvPicPr preferRelativeResize="0"/>
          <p:nvPr/>
        </p:nvPicPr>
        <p:blipFill>
          <a:blip r:embed="rId3">
            <a:alphaModFix/>
          </a:blip>
          <a:stretch>
            <a:fillRect/>
          </a:stretch>
        </p:blipFill>
        <p:spPr>
          <a:xfrm>
            <a:off x="6873503" y="1746863"/>
            <a:ext cx="3293453" cy="3984275"/>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27fe1aec3a5_0_147"/>
          <p:cNvSpPr txBox="1"/>
          <p:nvPr/>
        </p:nvSpPr>
        <p:spPr>
          <a:xfrm flipH="1">
            <a:off x="467500" y="207825"/>
            <a:ext cx="9520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lang="en-US" sz="2400">
                <a:solidFill>
                  <a:srgbClr val="675AB9"/>
                </a:solidFill>
                <a:latin typeface="Montserrat"/>
                <a:ea typeface="Montserrat"/>
                <a:cs typeface="Montserrat"/>
                <a:sym typeface="Montserrat"/>
              </a:rPr>
              <a:t>LLM Architecture - How it Works?</a:t>
            </a:r>
            <a:endParaRPr b="1" sz="2400">
              <a:solidFill>
                <a:srgbClr val="675AB9"/>
              </a:solidFill>
              <a:latin typeface="Montserrat"/>
              <a:ea typeface="Montserrat"/>
              <a:cs typeface="Montserrat"/>
              <a:sym typeface="Montserrat"/>
            </a:endParaRPr>
          </a:p>
        </p:txBody>
      </p:sp>
      <p:sp>
        <p:nvSpPr>
          <p:cNvPr id="235" name="Google Shape;235;g27fe1aec3a5_0_147"/>
          <p:cNvSpPr/>
          <p:nvPr/>
        </p:nvSpPr>
        <p:spPr>
          <a:xfrm>
            <a:off x="1176313" y="1433922"/>
            <a:ext cx="520800" cy="481200"/>
          </a:xfrm>
          <a:prstGeom prst="roundRect">
            <a:avLst>
              <a:gd fmla="val 32479" name="adj"/>
            </a:avLst>
          </a:prstGeom>
          <a:solidFill>
            <a:srgbClr val="FE646F"/>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2000">
              <a:latin typeface="Calibri"/>
              <a:ea typeface="Calibri"/>
              <a:cs typeface="Calibri"/>
              <a:sym typeface="Calibri"/>
            </a:endParaRPr>
          </a:p>
        </p:txBody>
      </p:sp>
      <p:sp>
        <p:nvSpPr>
          <p:cNvPr id="236" name="Google Shape;236;g27fe1aec3a5_0_147"/>
          <p:cNvSpPr/>
          <p:nvPr/>
        </p:nvSpPr>
        <p:spPr>
          <a:xfrm>
            <a:off x="1176248" y="1413725"/>
            <a:ext cx="520800" cy="520800"/>
          </a:xfrm>
          <a:prstGeom prst="ellipse">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4100"/>
              <a:buFont typeface="Arial"/>
              <a:buNone/>
            </a:pPr>
            <a:r>
              <a:rPr b="1" lang="en-US" sz="2100">
                <a:solidFill>
                  <a:srgbClr val="FFFFFF"/>
                </a:solidFill>
                <a:latin typeface="Montserrat"/>
                <a:ea typeface="Montserrat"/>
                <a:cs typeface="Montserrat"/>
                <a:sym typeface="Montserrat"/>
              </a:rPr>
              <a:t>2</a:t>
            </a:r>
            <a:endParaRPr b="1" i="0" sz="2100" u="none" cap="none" strike="noStrike">
              <a:solidFill>
                <a:srgbClr val="FFFFFF"/>
              </a:solidFill>
              <a:latin typeface="Montserrat"/>
              <a:ea typeface="Montserrat"/>
              <a:cs typeface="Montserrat"/>
              <a:sym typeface="Montserrat"/>
            </a:endParaRPr>
          </a:p>
        </p:txBody>
      </p:sp>
      <p:sp>
        <p:nvSpPr>
          <p:cNvPr id="237" name="Google Shape;237;g27fe1aec3a5_0_147"/>
          <p:cNvSpPr txBox="1"/>
          <p:nvPr/>
        </p:nvSpPr>
        <p:spPr>
          <a:xfrm>
            <a:off x="1673372" y="1407525"/>
            <a:ext cx="3725100" cy="5385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b="1" lang="en-US" sz="1900">
                <a:solidFill>
                  <a:srgbClr val="FE646F"/>
                </a:solidFill>
                <a:latin typeface="Montserrat"/>
                <a:ea typeface="Montserrat"/>
                <a:cs typeface="Montserrat"/>
                <a:sym typeface="Montserrat"/>
              </a:rPr>
              <a:t>Self-Attention Mechanism</a:t>
            </a:r>
            <a:endParaRPr b="1" sz="1900">
              <a:solidFill>
                <a:srgbClr val="FE646F"/>
              </a:solidFill>
              <a:latin typeface="Montserrat"/>
              <a:ea typeface="Montserrat"/>
              <a:cs typeface="Montserrat"/>
              <a:sym typeface="Montserrat"/>
            </a:endParaRPr>
          </a:p>
        </p:txBody>
      </p:sp>
      <p:sp>
        <p:nvSpPr>
          <p:cNvPr id="238" name="Google Shape;238;g27fe1aec3a5_0_147"/>
          <p:cNvSpPr/>
          <p:nvPr/>
        </p:nvSpPr>
        <p:spPr>
          <a:xfrm>
            <a:off x="1267793" y="2890692"/>
            <a:ext cx="3725100" cy="1915500"/>
          </a:xfrm>
          <a:prstGeom prst="roundRect">
            <a:avLst>
              <a:gd fmla="val 16667" name="adj"/>
            </a:avLst>
          </a:prstGeom>
          <a:solidFill>
            <a:srgbClr val="89BDD1">
              <a:alpha val="20000"/>
            </a:srgbClr>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Calibri"/>
              <a:ea typeface="Calibri"/>
              <a:cs typeface="Calibri"/>
              <a:sym typeface="Calibri"/>
            </a:endParaRPr>
          </a:p>
        </p:txBody>
      </p:sp>
      <p:sp>
        <p:nvSpPr>
          <p:cNvPr id="239" name="Google Shape;239;g27fe1aec3a5_0_147"/>
          <p:cNvSpPr txBox="1"/>
          <p:nvPr/>
        </p:nvSpPr>
        <p:spPr>
          <a:xfrm>
            <a:off x="1267788" y="3056662"/>
            <a:ext cx="3631500" cy="1364700"/>
          </a:xfrm>
          <a:prstGeom prst="rect">
            <a:avLst/>
          </a:prstGeom>
          <a:noFill/>
          <a:ln>
            <a:noFill/>
          </a:ln>
        </p:spPr>
        <p:txBody>
          <a:bodyPr anchorCtr="0" anchor="t" bIns="121875" lIns="121875" spcFirstLastPara="1" rIns="121875" wrap="square" tIns="121875">
            <a:noAutofit/>
          </a:bodyPr>
          <a:lstStyle/>
          <a:p>
            <a:pPr indent="0" lvl="0" marL="0" rtl="0" algn="ctr">
              <a:lnSpc>
                <a:spcPct val="150000"/>
              </a:lnSpc>
              <a:spcBef>
                <a:spcPts val="0"/>
              </a:spcBef>
              <a:spcAft>
                <a:spcPts val="0"/>
              </a:spcAft>
              <a:buClr>
                <a:srgbClr val="000000"/>
              </a:buClr>
              <a:buSzPts val="1500"/>
              <a:buFont typeface="Arial"/>
              <a:buNone/>
            </a:pPr>
            <a:r>
              <a:rPr lang="en-US" sz="1600">
                <a:latin typeface="Montserrat"/>
                <a:ea typeface="Montserrat"/>
                <a:cs typeface="Montserrat"/>
                <a:sym typeface="Montserrat"/>
              </a:rPr>
              <a:t>Calculate Attention Scores - Determine how much focus each word should have on other words in the sentence.</a:t>
            </a:r>
            <a:endParaRPr sz="1600">
              <a:solidFill>
                <a:srgbClr val="000000"/>
              </a:solidFill>
              <a:latin typeface="Montserrat"/>
              <a:ea typeface="Montserrat"/>
              <a:cs typeface="Montserrat"/>
              <a:sym typeface="Montserrat"/>
            </a:endParaRPr>
          </a:p>
        </p:txBody>
      </p:sp>
      <p:sp>
        <p:nvSpPr>
          <p:cNvPr id="240" name="Google Shape;240;g27fe1aec3a5_0_147"/>
          <p:cNvSpPr/>
          <p:nvPr/>
        </p:nvSpPr>
        <p:spPr>
          <a:xfrm>
            <a:off x="6301530" y="2945417"/>
            <a:ext cx="3725100" cy="1915500"/>
          </a:xfrm>
          <a:prstGeom prst="roundRect">
            <a:avLst>
              <a:gd fmla="val 16667" name="adj"/>
            </a:avLst>
          </a:prstGeom>
          <a:solidFill>
            <a:srgbClr val="89BDD1">
              <a:alpha val="20000"/>
            </a:srgbClr>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Calibri"/>
              <a:ea typeface="Calibri"/>
              <a:cs typeface="Calibri"/>
              <a:sym typeface="Calibri"/>
            </a:endParaRPr>
          </a:p>
        </p:txBody>
      </p:sp>
      <p:sp>
        <p:nvSpPr>
          <p:cNvPr id="241" name="Google Shape;241;g27fe1aec3a5_0_147"/>
          <p:cNvSpPr txBox="1"/>
          <p:nvPr/>
        </p:nvSpPr>
        <p:spPr>
          <a:xfrm>
            <a:off x="6448500" y="3220887"/>
            <a:ext cx="3631500" cy="1364700"/>
          </a:xfrm>
          <a:prstGeom prst="rect">
            <a:avLst/>
          </a:prstGeom>
          <a:noFill/>
          <a:ln>
            <a:noFill/>
          </a:ln>
        </p:spPr>
        <p:txBody>
          <a:bodyPr anchorCtr="0" anchor="t" bIns="121875" lIns="121875" spcFirstLastPara="1" rIns="121875" wrap="square" tIns="121875">
            <a:noAutofit/>
          </a:bodyPr>
          <a:lstStyle/>
          <a:p>
            <a:pPr indent="0" lvl="0" marL="0" rtl="0" algn="ctr">
              <a:lnSpc>
                <a:spcPct val="150000"/>
              </a:lnSpc>
              <a:spcBef>
                <a:spcPts val="0"/>
              </a:spcBef>
              <a:spcAft>
                <a:spcPts val="0"/>
              </a:spcAft>
              <a:buClr>
                <a:schemeClr val="dk1"/>
              </a:buClr>
              <a:buSzPts val="1100"/>
              <a:buFont typeface="Arial"/>
              <a:buNone/>
            </a:pPr>
            <a:r>
              <a:rPr lang="en-US" sz="1600">
                <a:latin typeface="Montserrat"/>
                <a:ea typeface="Montserrat"/>
                <a:cs typeface="Montserrat"/>
                <a:sym typeface="Montserrat"/>
              </a:rPr>
              <a:t>Each token is then converted into a numerical representation (an index in the model's vocabulary).</a:t>
            </a:r>
            <a:endParaRPr sz="1600">
              <a:latin typeface="Montserrat"/>
              <a:ea typeface="Montserrat"/>
              <a:cs typeface="Montserrat"/>
              <a:sym typeface="Montserrat"/>
            </a:endParaRPr>
          </a:p>
        </p:txBody>
      </p:sp>
      <p:sp>
        <p:nvSpPr>
          <p:cNvPr id="242" name="Google Shape;242;g27fe1aec3a5_0_147"/>
          <p:cNvSpPr/>
          <p:nvPr/>
        </p:nvSpPr>
        <p:spPr>
          <a:xfrm>
            <a:off x="5252925" y="3574925"/>
            <a:ext cx="913800" cy="520800"/>
          </a:xfrm>
          <a:prstGeom prst="rightArrow">
            <a:avLst>
              <a:gd fmla="val 50000" name="adj1"/>
              <a:gd fmla="val 50000" name="adj2"/>
            </a:avLst>
          </a:prstGeom>
          <a:solidFill>
            <a:srgbClr val="000000"/>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000000"/>
              </a:highlight>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27fe1aec3a5_0_168"/>
          <p:cNvSpPr txBox="1"/>
          <p:nvPr/>
        </p:nvSpPr>
        <p:spPr>
          <a:xfrm flipH="1">
            <a:off x="467500" y="207825"/>
            <a:ext cx="9520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lang="en-US" sz="2400">
                <a:solidFill>
                  <a:srgbClr val="675AB9"/>
                </a:solidFill>
                <a:latin typeface="Montserrat"/>
                <a:ea typeface="Montserrat"/>
                <a:cs typeface="Montserrat"/>
                <a:sym typeface="Montserrat"/>
              </a:rPr>
              <a:t>LLM Architecture - How it Works?</a:t>
            </a:r>
            <a:endParaRPr b="1" sz="2400">
              <a:solidFill>
                <a:srgbClr val="675AB9"/>
              </a:solidFill>
              <a:latin typeface="Montserrat"/>
              <a:ea typeface="Montserrat"/>
              <a:cs typeface="Montserrat"/>
              <a:sym typeface="Montserrat"/>
            </a:endParaRPr>
          </a:p>
        </p:txBody>
      </p:sp>
      <p:sp>
        <p:nvSpPr>
          <p:cNvPr id="248" name="Google Shape;248;g27fe1aec3a5_0_168"/>
          <p:cNvSpPr/>
          <p:nvPr/>
        </p:nvSpPr>
        <p:spPr>
          <a:xfrm>
            <a:off x="1176313" y="1433922"/>
            <a:ext cx="520800" cy="481200"/>
          </a:xfrm>
          <a:prstGeom prst="roundRect">
            <a:avLst>
              <a:gd fmla="val 32479" name="adj"/>
            </a:avLst>
          </a:prstGeom>
          <a:solidFill>
            <a:srgbClr val="FE646F"/>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2000">
              <a:latin typeface="Calibri"/>
              <a:ea typeface="Calibri"/>
              <a:cs typeface="Calibri"/>
              <a:sym typeface="Calibri"/>
            </a:endParaRPr>
          </a:p>
        </p:txBody>
      </p:sp>
      <p:sp>
        <p:nvSpPr>
          <p:cNvPr id="249" name="Google Shape;249;g27fe1aec3a5_0_168"/>
          <p:cNvSpPr/>
          <p:nvPr/>
        </p:nvSpPr>
        <p:spPr>
          <a:xfrm>
            <a:off x="1176248" y="1413725"/>
            <a:ext cx="520800" cy="520800"/>
          </a:xfrm>
          <a:prstGeom prst="ellipse">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4100"/>
              <a:buFont typeface="Arial"/>
              <a:buNone/>
            </a:pPr>
            <a:r>
              <a:rPr b="1" lang="en-US" sz="2100">
                <a:solidFill>
                  <a:srgbClr val="FFFFFF"/>
                </a:solidFill>
                <a:latin typeface="Montserrat"/>
                <a:ea typeface="Montserrat"/>
                <a:cs typeface="Montserrat"/>
                <a:sym typeface="Montserrat"/>
              </a:rPr>
              <a:t>2</a:t>
            </a:r>
            <a:endParaRPr b="1" i="0" sz="2100" u="none" cap="none" strike="noStrike">
              <a:solidFill>
                <a:srgbClr val="FFFFFF"/>
              </a:solidFill>
              <a:latin typeface="Montserrat"/>
              <a:ea typeface="Montserrat"/>
              <a:cs typeface="Montserrat"/>
              <a:sym typeface="Montserrat"/>
            </a:endParaRPr>
          </a:p>
        </p:txBody>
      </p:sp>
      <p:sp>
        <p:nvSpPr>
          <p:cNvPr id="250" name="Google Shape;250;g27fe1aec3a5_0_168"/>
          <p:cNvSpPr txBox="1"/>
          <p:nvPr/>
        </p:nvSpPr>
        <p:spPr>
          <a:xfrm>
            <a:off x="1673372" y="1407525"/>
            <a:ext cx="3725100" cy="5385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b="1" lang="en-US" sz="1900">
                <a:solidFill>
                  <a:srgbClr val="FE646F"/>
                </a:solidFill>
                <a:latin typeface="Montserrat"/>
                <a:ea typeface="Montserrat"/>
                <a:cs typeface="Montserrat"/>
                <a:sym typeface="Montserrat"/>
              </a:rPr>
              <a:t>Self-Attention Mechanism</a:t>
            </a:r>
            <a:endParaRPr b="1" sz="1900">
              <a:solidFill>
                <a:srgbClr val="FE646F"/>
              </a:solidFill>
              <a:latin typeface="Montserrat"/>
              <a:ea typeface="Montserrat"/>
              <a:cs typeface="Montserrat"/>
              <a:sym typeface="Montserrat"/>
            </a:endParaRPr>
          </a:p>
        </p:txBody>
      </p:sp>
      <p:sp>
        <p:nvSpPr>
          <p:cNvPr id="251" name="Google Shape;251;g27fe1aec3a5_0_168"/>
          <p:cNvSpPr/>
          <p:nvPr/>
        </p:nvSpPr>
        <p:spPr>
          <a:xfrm>
            <a:off x="1267793" y="2890692"/>
            <a:ext cx="3725100" cy="1915500"/>
          </a:xfrm>
          <a:prstGeom prst="roundRect">
            <a:avLst>
              <a:gd fmla="val 16667" name="adj"/>
            </a:avLst>
          </a:prstGeom>
          <a:solidFill>
            <a:srgbClr val="89BDD1">
              <a:alpha val="20000"/>
            </a:srgbClr>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Calibri"/>
              <a:ea typeface="Calibri"/>
              <a:cs typeface="Calibri"/>
              <a:sym typeface="Calibri"/>
            </a:endParaRPr>
          </a:p>
        </p:txBody>
      </p:sp>
      <p:sp>
        <p:nvSpPr>
          <p:cNvPr id="252" name="Google Shape;252;g27fe1aec3a5_0_168"/>
          <p:cNvSpPr txBox="1"/>
          <p:nvPr/>
        </p:nvSpPr>
        <p:spPr>
          <a:xfrm>
            <a:off x="1267788" y="3429012"/>
            <a:ext cx="3631500" cy="1364700"/>
          </a:xfrm>
          <a:prstGeom prst="rect">
            <a:avLst/>
          </a:prstGeom>
          <a:noFill/>
          <a:ln>
            <a:noFill/>
          </a:ln>
        </p:spPr>
        <p:txBody>
          <a:bodyPr anchorCtr="0" anchor="t" bIns="121875" lIns="121875" spcFirstLastPara="1" rIns="121875" wrap="square" tIns="121875">
            <a:noAutofit/>
          </a:bodyPr>
          <a:lstStyle/>
          <a:p>
            <a:pPr indent="0" lvl="0" marL="0" rtl="0" algn="ctr">
              <a:lnSpc>
                <a:spcPct val="150000"/>
              </a:lnSpc>
              <a:spcBef>
                <a:spcPts val="0"/>
              </a:spcBef>
              <a:spcAft>
                <a:spcPts val="0"/>
              </a:spcAft>
              <a:buClr>
                <a:srgbClr val="000000"/>
              </a:buClr>
              <a:buSzPts val="1500"/>
              <a:buFont typeface="Arial"/>
              <a:buNone/>
            </a:pPr>
            <a:r>
              <a:rPr lang="en-US" sz="1600">
                <a:latin typeface="Montserrat"/>
                <a:ea typeface="Montserrat"/>
                <a:cs typeface="Montserrat"/>
                <a:sym typeface="Montserrat"/>
              </a:rPr>
              <a:t>Generate Contextual Representations</a:t>
            </a:r>
            <a:endParaRPr sz="1600">
              <a:solidFill>
                <a:srgbClr val="000000"/>
              </a:solidFill>
              <a:latin typeface="Montserrat"/>
              <a:ea typeface="Montserrat"/>
              <a:cs typeface="Montserrat"/>
              <a:sym typeface="Montserrat"/>
            </a:endParaRPr>
          </a:p>
        </p:txBody>
      </p:sp>
      <p:sp>
        <p:nvSpPr>
          <p:cNvPr id="253" name="Google Shape;253;g27fe1aec3a5_0_168"/>
          <p:cNvSpPr/>
          <p:nvPr/>
        </p:nvSpPr>
        <p:spPr>
          <a:xfrm>
            <a:off x="6301525" y="2945425"/>
            <a:ext cx="3778500" cy="1915500"/>
          </a:xfrm>
          <a:prstGeom prst="roundRect">
            <a:avLst>
              <a:gd fmla="val 16667" name="adj"/>
            </a:avLst>
          </a:prstGeom>
          <a:solidFill>
            <a:srgbClr val="89BDD1">
              <a:alpha val="20000"/>
            </a:srgbClr>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Calibri"/>
              <a:ea typeface="Calibri"/>
              <a:cs typeface="Calibri"/>
              <a:sym typeface="Calibri"/>
            </a:endParaRPr>
          </a:p>
        </p:txBody>
      </p:sp>
      <p:sp>
        <p:nvSpPr>
          <p:cNvPr id="254" name="Google Shape;254;g27fe1aec3a5_0_168"/>
          <p:cNvSpPr txBox="1"/>
          <p:nvPr/>
        </p:nvSpPr>
        <p:spPr>
          <a:xfrm>
            <a:off x="6448500" y="3220887"/>
            <a:ext cx="3631500" cy="1364700"/>
          </a:xfrm>
          <a:prstGeom prst="rect">
            <a:avLst/>
          </a:prstGeom>
          <a:noFill/>
          <a:ln>
            <a:noFill/>
          </a:ln>
        </p:spPr>
        <p:txBody>
          <a:bodyPr anchorCtr="0" anchor="t" bIns="121875" lIns="121875" spcFirstLastPara="1" rIns="121875" wrap="square" tIns="121875">
            <a:noAutofit/>
          </a:bodyPr>
          <a:lstStyle/>
          <a:p>
            <a:pPr indent="0" lvl="0" marL="0" rtl="0" algn="ctr">
              <a:lnSpc>
                <a:spcPct val="150000"/>
              </a:lnSpc>
              <a:spcBef>
                <a:spcPts val="0"/>
              </a:spcBef>
              <a:spcAft>
                <a:spcPts val="0"/>
              </a:spcAft>
              <a:buClr>
                <a:schemeClr val="dk1"/>
              </a:buClr>
              <a:buSzPts val="1100"/>
              <a:buFont typeface="Arial"/>
              <a:buNone/>
            </a:pPr>
            <a:r>
              <a:rPr lang="en-US" sz="1600">
                <a:latin typeface="Montserrat"/>
                <a:ea typeface="Montserrat"/>
                <a:cs typeface="Montserrat"/>
                <a:sym typeface="Montserrat"/>
              </a:rPr>
              <a:t>The word “scientist” might have its representation updated to emphasize its connection to “observed” and “data.”</a:t>
            </a:r>
            <a:endParaRPr sz="1600">
              <a:latin typeface="Montserrat"/>
              <a:ea typeface="Montserrat"/>
              <a:cs typeface="Montserrat"/>
              <a:sym typeface="Montserrat"/>
            </a:endParaRPr>
          </a:p>
        </p:txBody>
      </p:sp>
      <p:sp>
        <p:nvSpPr>
          <p:cNvPr id="255" name="Google Shape;255;g27fe1aec3a5_0_168"/>
          <p:cNvSpPr/>
          <p:nvPr/>
        </p:nvSpPr>
        <p:spPr>
          <a:xfrm>
            <a:off x="5252925" y="3574925"/>
            <a:ext cx="913800" cy="520800"/>
          </a:xfrm>
          <a:prstGeom prst="rightArrow">
            <a:avLst>
              <a:gd fmla="val 50000" name="adj1"/>
              <a:gd fmla="val 50000" name="adj2"/>
            </a:avLst>
          </a:prstGeom>
          <a:solidFill>
            <a:srgbClr val="000000"/>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000000"/>
              </a:highlight>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27fe1aec3a5_0_182"/>
          <p:cNvSpPr txBox="1"/>
          <p:nvPr/>
        </p:nvSpPr>
        <p:spPr>
          <a:xfrm flipH="1">
            <a:off x="467500" y="207825"/>
            <a:ext cx="9520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lang="en-US" sz="2400">
                <a:solidFill>
                  <a:srgbClr val="675AB9"/>
                </a:solidFill>
                <a:latin typeface="Montserrat"/>
                <a:ea typeface="Montserrat"/>
                <a:cs typeface="Montserrat"/>
                <a:sym typeface="Montserrat"/>
              </a:rPr>
              <a:t>LLM Architecture - How it Works?</a:t>
            </a:r>
            <a:endParaRPr b="1" sz="2400">
              <a:solidFill>
                <a:srgbClr val="675AB9"/>
              </a:solidFill>
              <a:latin typeface="Montserrat"/>
              <a:ea typeface="Montserrat"/>
              <a:cs typeface="Montserrat"/>
              <a:sym typeface="Montserrat"/>
            </a:endParaRPr>
          </a:p>
        </p:txBody>
      </p:sp>
      <p:sp>
        <p:nvSpPr>
          <p:cNvPr id="261" name="Google Shape;261;g27fe1aec3a5_0_182"/>
          <p:cNvSpPr/>
          <p:nvPr/>
        </p:nvSpPr>
        <p:spPr>
          <a:xfrm>
            <a:off x="1176313" y="1433922"/>
            <a:ext cx="520800" cy="481200"/>
          </a:xfrm>
          <a:prstGeom prst="roundRect">
            <a:avLst>
              <a:gd fmla="val 32479" name="adj"/>
            </a:avLst>
          </a:prstGeom>
          <a:solidFill>
            <a:srgbClr val="FE646F"/>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2000">
              <a:latin typeface="Calibri"/>
              <a:ea typeface="Calibri"/>
              <a:cs typeface="Calibri"/>
              <a:sym typeface="Calibri"/>
            </a:endParaRPr>
          </a:p>
        </p:txBody>
      </p:sp>
      <p:sp>
        <p:nvSpPr>
          <p:cNvPr id="262" name="Google Shape;262;g27fe1aec3a5_0_182"/>
          <p:cNvSpPr/>
          <p:nvPr/>
        </p:nvSpPr>
        <p:spPr>
          <a:xfrm>
            <a:off x="1176248" y="1413725"/>
            <a:ext cx="520800" cy="520800"/>
          </a:xfrm>
          <a:prstGeom prst="ellipse">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4100"/>
              <a:buFont typeface="Arial"/>
              <a:buNone/>
            </a:pPr>
            <a:r>
              <a:rPr b="1" lang="en-US" sz="2100">
                <a:solidFill>
                  <a:srgbClr val="FFFFFF"/>
                </a:solidFill>
                <a:latin typeface="Montserrat"/>
                <a:ea typeface="Montserrat"/>
                <a:cs typeface="Montserrat"/>
                <a:sym typeface="Montserrat"/>
              </a:rPr>
              <a:t>3</a:t>
            </a:r>
            <a:endParaRPr b="1" i="0" sz="2100" u="none" cap="none" strike="noStrike">
              <a:solidFill>
                <a:srgbClr val="FFFFFF"/>
              </a:solidFill>
              <a:latin typeface="Montserrat"/>
              <a:ea typeface="Montserrat"/>
              <a:cs typeface="Montserrat"/>
              <a:sym typeface="Montserrat"/>
            </a:endParaRPr>
          </a:p>
        </p:txBody>
      </p:sp>
      <p:sp>
        <p:nvSpPr>
          <p:cNvPr id="263" name="Google Shape;263;g27fe1aec3a5_0_182"/>
          <p:cNvSpPr txBox="1"/>
          <p:nvPr/>
        </p:nvSpPr>
        <p:spPr>
          <a:xfrm>
            <a:off x="1673375" y="1407525"/>
            <a:ext cx="4345500" cy="5385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b="1" lang="en-US" sz="1900">
                <a:solidFill>
                  <a:srgbClr val="FE646F"/>
                </a:solidFill>
                <a:latin typeface="Montserrat"/>
                <a:ea typeface="Montserrat"/>
                <a:cs typeface="Montserrat"/>
                <a:sym typeface="Montserrat"/>
              </a:rPr>
              <a:t>Feed-Forward Neural Networks</a:t>
            </a:r>
            <a:endParaRPr b="1" sz="1900">
              <a:solidFill>
                <a:srgbClr val="FE646F"/>
              </a:solidFill>
              <a:latin typeface="Montserrat"/>
              <a:ea typeface="Montserrat"/>
              <a:cs typeface="Montserrat"/>
              <a:sym typeface="Montserrat"/>
            </a:endParaRPr>
          </a:p>
        </p:txBody>
      </p:sp>
      <p:sp>
        <p:nvSpPr>
          <p:cNvPr id="264" name="Google Shape;264;g27fe1aec3a5_0_182"/>
          <p:cNvSpPr/>
          <p:nvPr/>
        </p:nvSpPr>
        <p:spPr>
          <a:xfrm>
            <a:off x="1129525" y="2978654"/>
            <a:ext cx="3725100" cy="2727000"/>
          </a:xfrm>
          <a:prstGeom prst="roundRect">
            <a:avLst>
              <a:gd fmla="val 16667" name="adj"/>
            </a:avLst>
          </a:prstGeom>
          <a:solidFill>
            <a:srgbClr val="89BDD1">
              <a:alpha val="20000"/>
            </a:srgbClr>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Calibri"/>
              <a:ea typeface="Calibri"/>
              <a:cs typeface="Calibri"/>
              <a:sym typeface="Calibri"/>
            </a:endParaRPr>
          </a:p>
        </p:txBody>
      </p:sp>
      <p:sp>
        <p:nvSpPr>
          <p:cNvPr id="265" name="Google Shape;265;g27fe1aec3a5_0_182"/>
          <p:cNvSpPr txBox="1"/>
          <p:nvPr/>
        </p:nvSpPr>
        <p:spPr>
          <a:xfrm>
            <a:off x="1176313" y="3152987"/>
            <a:ext cx="3631500" cy="1364700"/>
          </a:xfrm>
          <a:prstGeom prst="rect">
            <a:avLst/>
          </a:prstGeom>
          <a:noFill/>
          <a:ln>
            <a:noFill/>
          </a:ln>
        </p:spPr>
        <p:txBody>
          <a:bodyPr anchorCtr="0" anchor="t" bIns="121875" lIns="121875" spcFirstLastPara="1" rIns="121875" wrap="square" tIns="121875">
            <a:noAutofit/>
          </a:bodyPr>
          <a:lstStyle/>
          <a:p>
            <a:pPr indent="0" lvl="0" marL="0" rtl="0" algn="ctr">
              <a:lnSpc>
                <a:spcPct val="150000"/>
              </a:lnSpc>
              <a:spcBef>
                <a:spcPts val="0"/>
              </a:spcBef>
              <a:spcAft>
                <a:spcPts val="0"/>
              </a:spcAft>
              <a:buClr>
                <a:srgbClr val="000000"/>
              </a:buClr>
              <a:buSzPts val="1500"/>
              <a:buFont typeface="Arial"/>
              <a:buNone/>
            </a:pPr>
            <a:r>
              <a:rPr lang="en-US" sz="1600">
                <a:latin typeface="Montserrat"/>
                <a:ea typeface="Montserrat"/>
                <a:cs typeface="Montserrat"/>
                <a:sym typeface="Montserrat"/>
              </a:rPr>
              <a:t>Refine Representations - After self-attention, the model processes the updated representations through a feed-forward network to enhance their features.</a:t>
            </a:r>
            <a:endParaRPr sz="1600">
              <a:solidFill>
                <a:srgbClr val="000000"/>
              </a:solidFill>
              <a:latin typeface="Montserrat"/>
              <a:ea typeface="Montserrat"/>
              <a:cs typeface="Montserrat"/>
              <a:sym typeface="Montserrat"/>
            </a:endParaRPr>
          </a:p>
        </p:txBody>
      </p:sp>
      <p:sp>
        <p:nvSpPr>
          <p:cNvPr id="266" name="Google Shape;266;g27fe1aec3a5_0_182"/>
          <p:cNvSpPr/>
          <p:nvPr/>
        </p:nvSpPr>
        <p:spPr>
          <a:xfrm>
            <a:off x="6301525" y="2945425"/>
            <a:ext cx="3857700" cy="1915500"/>
          </a:xfrm>
          <a:prstGeom prst="roundRect">
            <a:avLst>
              <a:gd fmla="val 16667" name="adj"/>
            </a:avLst>
          </a:prstGeom>
          <a:solidFill>
            <a:srgbClr val="89BDD1">
              <a:alpha val="20000"/>
            </a:srgbClr>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Calibri"/>
              <a:ea typeface="Calibri"/>
              <a:cs typeface="Calibri"/>
              <a:sym typeface="Calibri"/>
            </a:endParaRPr>
          </a:p>
        </p:txBody>
      </p:sp>
      <p:sp>
        <p:nvSpPr>
          <p:cNvPr id="267" name="Google Shape;267;g27fe1aec3a5_0_182"/>
          <p:cNvSpPr txBox="1"/>
          <p:nvPr/>
        </p:nvSpPr>
        <p:spPr>
          <a:xfrm>
            <a:off x="6448500" y="3220887"/>
            <a:ext cx="3631500" cy="1364700"/>
          </a:xfrm>
          <a:prstGeom prst="rect">
            <a:avLst/>
          </a:prstGeom>
          <a:noFill/>
          <a:ln>
            <a:noFill/>
          </a:ln>
        </p:spPr>
        <p:txBody>
          <a:bodyPr anchorCtr="0" anchor="t" bIns="121875" lIns="121875" spcFirstLastPara="1" rIns="121875" wrap="square" tIns="121875">
            <a:noAutofit/>
          </a:bodyPr>
          <a:lstStyle/>
          <a:p>
            <a:pPr indent="0" lvl="0" marL="0" rtl="0" algn="ctr">
              <a:lnSpc>
                <a:spcPct val="150000"/>
              </a:lnSpc>
              <a:spcBef>
                <a:spcPts val="0"/>
              </a:spcBef>
              <a:spcAft>
                <a:spcPts val="0"/>
              </a:spcAft>
              <a:buClr>
                <a:schemeClr val="dk1"/>
              </a:buClr>
              <a:buSzPts val="1100"/>
              <a:buFont typeface="Arial"/>
              <a:buNone/>
            </a:pPr>
            <a:r>
              <a:rPr lang="en-US" sz="1600">
                <a:latin typeface="Montserrat"/>
                <a:ea typeface="Montserrat"/>
                <a:cs typeface="Montserrat"/>
                <a:sym typeface="Montserrat"/>
              </a:rPr>
              <a:t>The representation of “scientist” now more accurately reflects its role in the sentence, related to “observed” and “data.”</a:t>
            </a:r>
            <a:endParaRPr sz="1600">
              <a:latin typeface="Montserrat"/>
              <a:ea typeface="Montserrat"/>
              <a:cs typeface="Montserrat"/>
              <a:sym typeface="Montserrat"/>
            </a:endParaRPr>
          </a:p>
        </p:txBody>
      </p:sp>
      <p:sp>
        <p:nvSpPr>
          <p:cNvPr id="268" name="Google Shape;268;g27fe1aec3a5_0_182"/>
          <p:cNvSpPr/>
          <p:nvPr/>
        </p:nvSpPr>
        <p:spPr>
          <a:xfrm>
            <a:off x="5252925" y="3574925"/>
            <a:ext cx="913800" cy="520800"/>
          </a:xfrm>
          <a:prstGeom prst="rightArrow">
            <a:avLst>
              <a:gd fmla="val 50000" name="adj1"/>
              <a:gd fmla="val 50000" name="adj2"/>
            </a:avLst>
          </a:prstGeom>
          <a:solidFill>
            <a:srgbClr val="000000"/>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000000"/>
              </a:highlight>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27fe1aec3a5_0_198"/>
          <p:cNvSpPr txBox="1"/>
          <p:nvPr/>
        </p:nvSpPr>
        <p:spPr>
          <a:xfrm flipH="1">
            <a:off x="467500" y="207825"/>
            <a:ext cx="9520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lang="en-US" sz="2400">
                <a:solidFill>
                  <a:srgbClr val="675AB9"/>
                </a:solidFill>
                <a:latin typeface="Montserrat"/>
                <a:ea typeface="Montserrat"/>
                <a:cs typeface="Montserrat"/>
                <a:sym typeface="Montserrat"/>
              </a:rPr>
              <a:t>LLM Architecture - How it Works?</a:t>
            </a:r>
            <a:endParaRPr b="1" sz="2400">
              <a:solidFill>
                <a:srgbClr val="675AB9"/>
              </a:solidFill>
              <a:latin typeface="Montserrat"/>
              <a:ea typeface="Montserrat"/>
              <a:cs typeface="Montserrat"/>
              <a:sym typeface="Montserrat"/>
            </a:endParaRPr>
          </a:p>
        </p:txBody>
      </p:sp>
      <p:sp>
        <p:nvSpPr>
          <p:cNvPr id="274" name="Google Shape;274;g27fe1aec3a5_0_198"/>
          <p:cNvSpPr/>
          <p:nvPr/>
        </p:nvSpPr>
        <p:spPr>
          <a:xfrm>
            <a:off x="1176313" y="1433922"/>
            <a:ext cx="520800" cy="481200"/>
          </a:xfrm>
          <a:prstGeom prst="roundRect">
            <a:avLst>
              <a:gd fmla="val 32479" name="adj"/>
            </a:avLst>
          </a:prstGeom>
          <a:solidFill>
            <a:srgbClr val="FE646F"/>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2000">
              <a:latin typeface="Calibri"/>
              <a:ea typeface="Calibri"/>
              <a:cs typeface="Calibri"/>
              <a:sym typeface="Calibri"/>
            </a:endParaRPr>
          </a:p>
        </p:txBody>
      </p:sp>
      <p:sp>
        <p:nvSpPr>
          <p:cNvPr id="275" name="Google Shape;275;g27fe1aec3a5_0_198"/>
          <p:cNvSpPr/>
          <p:nvPr/>
        </p:nvSpPr>
        <p:spPr>
          <a:xfrm>
            <a:off x="1176248" y="1413725"/>
            <a:ext cx="520800" cy="520800"/>
          </a:xfrm>
          <a:prstGeom prst="ellipse">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4100"/>
              <a:buFont typeface="Arial"/>
              <a:buNone/>
            </a:pPr>
            <a:r>
              <a:rPr b="1" lang="en-US" sz="2100">
                <a:solidFill>
                  <a:srgbClr val="FFFFFF"/>
                </a:solidFill>
                <a:latin typeface="Montserrat"/>
                <a:ea typeface="Montserrat"/>
                <a:cs typeface="Montserrat"/>
                <a:sym typeface="Montserrat"/>
              </a:rPr>
              <a:t>4</a:t>
            </a:r>
            <a:endParaRPr b="1" i="0" sz="2100" u="none" cap="none" strike="noStrike">
              <a:solidFill>
                <a:srgbClr val="FFFFFF"/>
              </a:solidFill>
              <a:latin typeface="Montserrat"/>
              <a:ea typeface="Montserrat"/>
              <a:cs typeface="Montserrat"/>
              <a:sym typeface="Montserrat"/>
            </a:endParaRPr>
          </a:p>
        </p:txBody>
      </p:sp>
      <p:sp>
        <p:nvSpPr>
          <p:cNvPr id="276" name="Google Shape;276;g27fe1aec3a5_0_198"/>
          <p:cNvSpPr txBox="1"/>
          <p:nvPr/>
        </p:nvSpPr>
        <p:spPr>
          <a:xfrm>
            <a:off x="1673375" y="1407525"/>
            <a:ext cx="4345500" cy="5385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b="1" lang="en-US" sz="1900">
                <a:solidFill>
                  <a:srgbClr val="FE646F"/>
                </a:solidFill>
                <a:latin typeface="Montserrat"/>
                <a:ea typeface="Montserrat"/>
                <a:cs typeface="Montserrat"/>
                <a:sym typeface="Montserrat"/>
              </a:rPr>
              <a:t>Positional Encoding</a:t>
            </a:r>
            <a:endParaRPr b="1" sz="1900">
              <a:solidFill>
                <a:srgbClr val="FE646F"/>
              </a:solidFill>
              <a:latin typeface="Montserrat"/>
              <a:ea typeface="Montserrat"/>
              <a:cs typeface="Montserrat"/>
              <a:sym typeface="Montserrat"/>
            </a:endParaRPr>
          </a:p>
        </p:txBody>
      </p:sp>
      <p:sp>
        <p:nvSpPr>
          <p:cNvPr id="277" name="Google Shape;277;g27fe1aec3a5_0_198"/>
          <p:cNvSpPr/>
          <p:nvPr/>
        </p:nvSpPr>
        <p:spPr>
          <a:xfrm>
            <a:off x="1267800" y="2890702"/>
            <a:ext cx="3725100" cy="2417100"/>
          </a:xfrm>
          <a:prstGeom prst="roundRect">
            <a:avLst>
              <a:gd fmla="val 16667" name="adj"/>
            </a:avLst>
          </a:prstGeom>
          <a:solidFill>
            <a:srgbClr val="89BDD1">
              <a:alpha val="20000"/>
            </a:srgbClr>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Calibri"/>
              <a:ea typeface="Calibri"/>
              <a:cs typeface="Calibri"/>
              <a:sym typeface="Calibri"/>
            </a:endParaRPr>
          </a:p>
        </p:txBody>
      </p:sp>
      <p:sp>
        <p:nvSpPr>
          <p:cNvPr id="278" name="Google Shape;278;g27fe1aec3a5_0_198"/>
          <p:cNvSpPr txBox="1"/>
          <p:nvPr/>
        </p:nvSpPr>
        <p:spPr>
          <a:xfrm>
            <a:off x="1339638" y="3152987"/>
            <a:ext cx="3631500" cy="1364700"/>
          </a:xfrm>
          <a:prstGeom prst="rect">
            <a:avLst/>
          </a:prstGeom>
          <a:noFill/>
          <a:ln>
            <a:noFill/>
          </a:ln>
        </p:spPr>
        <p:txBody>
          <a:bodyPr anchorCtr="0" anchor="t" bIns="121875" lIns="121875" spcFirstLastPara="1" rIns="121875" wrap="square" tIns="121875">
            <a:noAutofit/>
          </a:bodyPr>
          <a:lstStyle/>
          <a:p>
            <a:pPr indent="0" lvl="0" marL="0" rtl="0" algn="ctr">
              <a:lnSpc>
                <a:spcPct val="150000"/>
              </a:lnSpc>
              <a:spcBef>
                <a:spcPts val="0"/>
              </a:spcBef>
              <a:spcAft>
                <a:spcPts val="0"/>
              </a:spcAft>
              <a:buClr>
                <a:srgbClr val="000000"/>
              </a:buClr>
              <a:buSzPts val="1500"/>
              <a:buFont typeface="Arial"/>
              <a:buNone/>
            </a:pPr>
            <a:r>
              <a:rPr lang="en-US" sz="1600">
                <a:latin typeface="Montserrat"/>
                <a:ea typeface="Montserrat"/>
                <a:cs typeface="Montserrat"/>
                <a:sym typeface="Montserrat"/>
              </a:rPr>
              <a:t>Add Positional Information - Incorporates information about each word’s position in the sentence to maintain the order and structure</a:t>
            </a:r>
            <a:endParaRPr sz="1600">
              <a:solidFill>
                <a:srgbClr val="000000"/>
              </a:solidFill>
              <a:latin typeface="Montserrat"/>
              <a:ea typeface="Montserrat"/>
              <a:cs typeface="Montserrat"/>
              <a:sym typeface="Montserrat"/>
            </a:endParaRPr>
          </a:p>
        </p:txBody>
      </p:sp>
      <p:sp>
        <p:nvSpPr>
          <p:cNvPr id="279" name="Google Shape;279;g27fe1aec3a5_0_198"/>
          <p:cNvSpPr/>
          <p:nvPr/>
        </p:nvSpPr>
        <p:spPr>
          <a:xfrm>
            <a:off x="6301525" y="2945425"/>
            <a:ext cx="3876000" cy="2417100"/>
          </a:xfrm>
          <a:prstGeom prst="roundRect">
            <a:avLst>
              <a:gd fmla="val 16667" name="adj"/>
            </a:avLst>
          </a:prstGeom>
          <a:solidFill>
            <a:srgbClr val="89BDD1">
              <a:alpha val="20000"/>
            </a:srgbClr>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Calibri"/>
              <a:ea typeface="Calibri"/>
              <a:cs typeface="Calibri"/>
              <a:sym typeface="Calibri"/>
            </a:endParaRPr>
          </a:p>
        </p:txBody>
      </p:sp>
      <p:sp>
        <p:nvSpPr>
          <p:cNvPr id="280" name="Google Shape;280;g27fe1aec3a5_0_198"/>
          <p:cNvSpPr txBox="1"/>
          <p:nvPr/>
        </p:nvSpPr>
        <p:spPr>
          <a:xfrm>
            <a:off x="6448500" y="3220887"/>
            <a:ext cx="3631500" cy="1364700"/>
          </a:xfrm>
          <a:prstGeom prst="rect">
            <a:avLst/>
          </a:prstGeom>
          <a:noFill/>
          <a:ln>
            <a:noFill/>
          </a:ln>
        </p:spPr>
        <p:txBody>
          <a:bodyPr anchorCtr="0" anchor="t" bIns="121875" lIns="121875" spcFirstLastPara="1" rIns="121875" wrap="square" tIns="121875">
            <a:noAutofit/>
          </a:bodyPr>
          <a:lstStyle/>
          <a:p>
            <a:pPr indent="0" lvl="0" marL="0" rtl="0" algn="ctr">
              <a:lnSpc>
                <a:spcPct val="150000"/>
              </a:lnSpc>
              <a:spcBef>
                <a:spcPts val="0"/>
              </a:spcBef>
              <a:spcAft>
                <a:spcPts val="0"/>
              </a:spcAft>
              <a:buClr>
                <a:schemeClr val="dk1"/>
              </a:buClr>
              <a:buSzPts val="1100"/>
              <a:buFont typeface="Arial"/>
              <a:buNone/>
            </a:pPr>
            <a:r>
              <a:rPr lang="en-US" sz="1600">
                <a:latin typeface="Montserrat"/>
                <a:ea typeface="Montserrat"/>
                <a:cs typeface="Montserrat"/>
                <a:sym typeface="Montserrat"/>
              </a:rPr>
              <a:t>Ensures that the word “carefully” is understood as an adverb modifying “observed” rather than being interpreted in isolation.</a:t>
            </a:r>
            <a:endParaRPr sz="1600">
              <a:latin typeface="Montserrat"/>
              <a:ea typeface="Montserrat"/>
              <a:cs typeface="Montserrat"/>
              <a:sym typeface="Montserrat"/>
            </a:endParaRPr>
          </a:p>
        </p:txBody>
      </p:sp>
      <p:sp>
        <p:nvSpPr>
          <p:cNvPr id="281" name="Google Shape;281;g27fe1aec3a5_0_198"/>
          <p:cNvSpPr/>
          <p:nvPr/>
        </p:nvSpPr>
        <p:spPr>
          <a:xfrm>
            <a:off x="5252925" y="3574925"/>
            <a:ext cx="913800" cy="520800"/>
          </a:xfrm>
          <a:prstGeom prst="rightArrow">
            <a:avLst>
              <a:gd fmla="val 50000" name="adj1"/>
              <a:gd fmla="val 50000" name="adj2"/>
            </a:avLst>
          </a:prstGeom>
          <a:solidFill>
            <a:srgbClr val="000000"/>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000000"/>
              </a:highlight>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27fe1aec3a5_0_219"/>
          <p:cNvSpPr txBox="1"/>
          <p:nvPr/>
        </p:nvSpPr>
        <p:spPr>
          <a:xfrm flipH="1">
            <a:off x="467500" y="207825"/>
            <a:ext cx="9520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lang="en-US" sz="2400">
                <a:solidFill>
                  <a:srgbClr val="675AB9"/>
                </a:solidFill>
                <a:latin typeface="Montserrat"/>
                <a:ea typeface="Montserrat"/>
                <a:cs typeface="Montserrat"/>
                <a:sym typeface="Montserrat"/>
              </a:rPr>
              <a:t>LLM Architecture - How it Works?</a:t>
            </a:r>
            <a:endParaRPr b="1" sz="2400">
              <a:solidFill>
                <a:srgbClr val="675AB9"/>
              </a:solidFill>
              <a:latin typeface="Montserrat"/>
              <a:ea typeface="Montserrat"/>
              <a:cs typeface="Montserrat"/>
              <a:sym typeface="Montserrat"/>
            </a:endParaRPr>
          </a:p>
        </p:txBody>
      </p:sp>
      <p:sp>
        <p:nvSpPr>
          <p:cNvPr id="287" name="Google Shape;287;g27fe1aec3a5_0_219"/>
          <p:cNvSpPr/>
          <p:nvPr/>
        </p:nvSpPr>
        <p:spPr>
          <a:xfrm>
            <a:off x="1176313" y="1433922"/>
            <a:ext cx="520800" cy="481200"/>
          </a:xfrm>
          <a:prstGeom prst="roundRect">
            <a:avLst>
              <a:gd fmla="val 32479" name="adj"/>
            </a:avLst>
          </a:prstGeom>
          <a:solidFill>
            <a:srgbClr val="FE646F"/>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2000">
              <a:latin typeface="Calibri"/>
              <a:ea typeface="Calibri"/>
              <a:cs typeface="Calibri"/>
              <a:sym typeface="Calibri"/>
            </a:endParaRPr>
          </a:p>
        </p:txBody>
      </p:sp>
      <p:sp>
        <p:nvSpPr>
          <p:cNvPr id="288" name="Google Shape;288;g27fe1aec3a5_0_219"/>
          <p:cNvSpPr/>
          <p:nvPr/>
        </p:nvSpPr>
        <p:spPr>
          <a:xfrm>
            <a:off x="1176248" y="1413725"/>
            <a:ext cx="520800" cy="520800"/>
          </a:xfrm>
          <a:prstGeom prst="ellipse">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0000"/>
              </a:buClr>
              <a:buSzPts val="4100"/>
              <a:buFont typeface="Arial"/>
              <a:buNone/>
            </a:pPr>
            <a:r>
              <a:rPr b="1" lang="en-US" sz="2100">
                <a:solidFill>
                  <a:srgbClr val="FFFFFF"/>
                </a:solidFill>
                <a:latin typeface="Montserrat"/>
                <a:ea typeface="Montserrat"/>
                <a:cs typeface="Montserrat"/>
                <a:sym typeface="Montserrat"/>
              </a:rPr>
              <a:t>5</a:t>
            </a:r>
            <a:endParaRPr b="1" i="0" sz="2100" u="none" cap="none" strike="noStrike">
              <a:solidFill>
                <a:srgbClr val="FFFFFF"/>
              </a:solidFill>
              <a:latin typeface="Montserrat"/>
              <a:ea typeface="Montserrat"/>
              <a:cs typeface="Montserrat"/>
              <a:sym typeface="Montserrat"/>
            </a:endParaRPr>
          </a:p>
        </p:txBody>
      </p:sp>
      <p:sp>
        <p:nvSpPr>
          <p:cNvPr id="289" name="Google Shape;289;g27fe1aec3a5_0_219"/>
          <p:cNvSpPr txBox="1"/>
          <p:nvPr/>
        </p:nvSpPr>
        <p:spPr>
          <a:xfrm>
            <a:off x="1673375" y="1407525"/>
            <a:ext cx="4345500" cy="5385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b="1" lang="en-US" sz="1900">
                <a:solidFill>
                  <a:srgbClr val="FE646F"/>
                </a:solidFill>
                <a:latin typeface="Montserrat"/>
                <a:ea typeface="Montserrat"/>
                <a:cs typeface="Montserrat"/>
                <a:sym typeface="Montserrat"/>
              </a:rPr>
              <a:t>Output</a:t>
            </a:r>
            <a:endParaRPr b="1" sz="1900">
              <a:solidFill>
                <a:srgbClr val="FE646F"/>
              </a:solidFill>
              <a:latin typeface="Montserrat"/>
              <a:ea typeface="Montserrat"/>
              <a:cs typeface="Montserrat"/>
              <a:sym typeface="Montserrat"/>
            </a:endParaRPr>
          </a:p>
        </p:txBody>
      </p:sp>
      <p:sp>
        <p:nvSpPr>
          <p:cNvPr id="290" name="Google Shape;290;g27fe1aec3a5_0_219"/>
          <p:cNvSpPr/>
          <p:nvPr/>
        </p:nvSpPr>
        <p:spPr>
          <a:xfrm>
            <a:off x="1267800" y="2890700"/>
            <a:ext cx="3725100" cy="2818200"/>
          </a:xfrm>
          <a:prstGeom prst="roundRect">
            <a:avLst>
              <a:gd fmla="val 16667" name="adj"/>
            </a:avLst>
          </a:prstGeom>
          <a:solidFill>
            <a:srgbClr val="89BDD1">
              <a:alpha val="20000"/>
            </a:srgbClr>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Calibri"/>
              <a:ea typeface="Calibri"/>
              <a:cs typeface="Calibri"/>
              <a:sym typeface="Calibri"/>
            </a:endParaRPr>
          </a:p>
        </p:txBody>
      </p:sp>
      <p:sp>
        <p:nvSpPr>
          <p:cNvPr id="291" name="Google Shape;291;g27fe1aec3a5_0_219"/>
          <p:cNvSpPr txBox="1"/>
          <p:nvPr/>
        </p:nvSpPr>
        <p:spPr>
          <a:xfrm>
            <a:off x="1339638" y="3152987"/>
            <a:ext cx="3631500" cy="1364700"/>
          </a:xfrm>
          <a:prstGeom prst="rect">
            <a:avLst/>
          </a:prstGeom>
          <a:noFill/>
          <a:ln>
            <a:noFill/>
          </a:ln>
        </p:spPr>
        <p:txBody>
          <a:bodyPr anchorCtr="0" anchor="t" bIns="121875" lIns="121875" spcFirstLastPara="1" rIns="121875" wrap="square" tIns="121875">
            <a:noAutofit/>
          </a:bodyPr>
          <a:lstStyle/>
          <a:p>
            <a:pPr indent="0" lvl="0" marL="0" rtl="0" algn="ctr">
              <a:lnSpc>
                <a:spcPct val="150000"/>
              </a:lnSpc>
              <a:spcBef>
                <a:spcPts val="0"/>
              </a:spcBef>
              <a:spcAft>
                <a:spcPts val="0"/>
              </a:spcAft>
              <a:buClr>
                <a:srgbClr val="000000"/>
              </a:buClr>
              <a:buSzPts val="1500"/>
              <a:buFont typeface="Arial"/>
              <a:buNone/>
            </a:pPr>
            <a:r>
              <a:rPr lang="en-US" sz="1600">
                <a:latin typeface="Montserrat"/>
                <a:ea typeface="Montserrat"/>
                <a:cs typeface="Montserrat"/>
                <a:sym typeface="Montserrat"/>
              </a:rPr>
              <a:t>Generate Text or Predictions - The processed information can be used to perform various tasks such as text completion, summarization, or answering questions.</a:t>
            </a:r>
            <a:endParaRPr sz="1600">
              <a:solidFill>
                <a:srgbClr val="000000"/>
              </a:solidFill>
              <a:latin typeface="Montserrat"/>
              <a:ea typeface="Montserrat"/>
              <a:cs typeface="Montserrat"/>
              <a:sym typeface="Montserrat"/>
            </a:endParaRPr>
          </a:p>
        </p:txBody>
      </p:sp>
      <p:sp>
        <p:nvSpPr>
          <p:cNvPr id="292" name="Google Shape;292;g27fe1aec3a5_0_219"/>
          <p:cNvSpPr/>
          <p:nvPr/>
        </p:nvSpPr>
        <p:spPr>
          <a:xfrm>
            <a:off x="6301525" y="2945425"/>
            <a:ext cx="3876000" cy="2763600"/>
          </a:xfrm>
          <a:prstGeom prst="roundRect">
            <a:avLst>
              <a:gd fmla="val 16667" name="adj"/>
            </a:avLst>
          </a:prstGeom>
          <a:solidFill>
            <a:srgbClr val="89BDD1">
              <a:alpha val="20000"/>
            </a:srgbClr>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t/>
            </a:r>
            <a:endParaRPr sz="1900">
              <a:latin typeface="Calibri"/>
              <a:ea typeface="Calibri"/>
              <a:cs typeface="Calibri"/>
              <a:sym typeface="Calibri"/>
            </a:endParaRPr>
          </a:p>
        </p:txBody>
      </p:sp>
      <p:sp>
        <p:nvSpPr>
          <p:cNvPr id="293" name="Google Shape;293;g27fe1aec3a5_0_219"/>
          <p:cNvSpPr txBox="1"/>
          <p:nvPr/>
        </p:nvSpPr>
        <p:spPr>
          <a:xfrm>
            <a:off x="6448500" y="3220887"/>
            <a:ext cx="3631500" cy="1364700"/>
          </a:xfrm>
          <a:prstGeom prst="rect">
            <a:avLst/>
          </a:prstGeom>
          <a:noFill/>
          <a:ln>
            <a:noFill/>
          </a:ln>
        </p:spPr>
        <p:txBody>
          <a:bodyPr anchorCtr="0" anchor="t" bIns="121875" lIns="121875" spcFirstLastPara="1" rIns="121875" wrap="square" tIns="121875">
            <a:noAutofit/>
          </a:bodyPr>
          <a:lstStyle/>
          <a:p>
            <a:pPr indent="0" lvl="0" marL="0" rtl="0" algn="ctr">
              <a:lnSpc>
                <a:spcPct val="150000"/>
              </a:lnSpc>
              <a:spcBef>
                <a:spcPts val="0"/>
              </a:spcBef>
              <a:spcAft>
                <a:spcPts val="0"/>
              </a:spcAft>
              <a:buClr>
                <a:schemeClr val="dk1"/>
              </a:buClr>
              <a:buSzPts val="1100"/>
              <a:buFont typeface="Arial"/>
              <a:buNone/>
            </a:pPr>
            <a:r>
              <a:rPr lang="en-US" sz="1600">
                <a:latin typeface="Montserrat"/>
                <a:ea typeface="Montserrat"/>
                <a:cs typeface="Montserrat"/>
                <a:sym typeface="Montserrat"/>
              </a:rPr>
              <a:t>If the task is to predict the next word or sentence, the model might generate: “The scientist observed the new data carefully and concluded that...” based on the context provided.</a:t>
            </a:r>
            <a:endParaRPr sz="1600">
              <a:latin typeface="Montserrat"/>
              <a:ea typeface="Montserrat"/>
              <a:cs typeface="Montserrat"/>
              <a:sym typeface="Montserrat"/>
            </a:endParaRPr>
          </a:p>
        </p:txBody>
      </p:sp>
      <p:sp>
        <p:nvSpPr>
          <p:cNvPr id="294" name="Google Shape;294;g27fe1aec3a5_0_219"/>
          <p:cNvSpPr/>
          <p:nvPr/>
        </p:nvSpPr>
        <p:spPr>
          <a:xfrm>
            <a:off x="5252925" y="3574925"/>
            <a:ext cx="913800" cy="520800"/>
          </a:xfrm>
          <a:prstGeom prst="rightArrow">
            <a:avLst>
              <a:gd fmla="val 50000" name="adj1"/>
              <a:gd fmla="val 50000" name="adj2"/>
            </a:avLst>
          </a:prstGeom>
          <a:solidFill>
            <a:srgbClr val="000000"/>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000000"/>
              </a:highlight>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2f0967dc895_0_112"/>
          <p:cNvSpPr txBox="1"/>
          <p:nvPr/>
        </p:nvSpPr>
        <p:spPr>
          <a:xfrm>
            <a:off x="3076575" y="3013500"/>
            <a:ext cx="60960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lang="en-US" sz="4800">
                <a:solidFill>
                  <a:schemeClr val="lt1"/>
                </a:solidFill>
                <a:latin typeface="Montserrat"/>
                <a:ea typeface="Montserrat"/>
                <a:cs typeface="Montserrat"/>
                <a:sym typeface="Montserrat"/>
              </a:rPr>
              <a:t>Types of LLM</a:t>
            </a:r>
            <a:endParaRPr b="1" i="0" sz="48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2f0967dc895_0_116"/>
          <p:cNvSpPr txBox="1"/>
          <p:nvPr/>
        </p:nvSpPr>
        <p:spPr>
          <a:xfrm flipH="1">
            <a:off x="467500" y="207825"/>
            <a:ext cx="9520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lang="en-US" sz="2400">
                <a:solidFill>
                  <a:srgbClr val="675AB9"/>
                </a:solidFill>
                <a:latin typeface="Montserrat"/>
                <a:ea typeface="Montserrat"/>
                <a:cs typeface="Montserrat"/>
                <a:sym typeface="Montserrat"/>
              </a:rPr>
              <a:t>Types of LLM</a:t>
            </a:r>
            <a:endParaRPr b="1" sz="2400">
              <a:solidFill>
                <a:srgbClr val="675AB9"/>
              </a:solidFill>
              <a:latin typeface="Montserrat"/>
              <a:ea typeface="Montserrat"/>
              <a:cs typeface="Montserrat"/>
              <a:sym typeface="Montserrat"/>
            </a:endParaRPr>
          </a:p>
        </p:txBody>
      </p:sp>
      <p:sp>
        <p:nvSpPr>
          <p:cNvPr id="305" name="Google Shape;305;g2f0967dc895_0_116"/>
          <p:cNvSpPr/>
          <p:nvPr/>
        </p:nvSpPr>
        <p:spPr>
          <a:xfrm>
            <a:off x="3269261" y="3845941"/>
            <a:ext cx="83413" cy="77107"/>
          </a:xfrm>
          <a:custGeom>
            <a:rect b="b" l="l" r="r" t="t"/>
            <a:pathLst>
              <a:path extrusionOk="0" h="1962" w="2123">
                <a:moveTo>
                  <a:pt x="1085" y="1"/>
                </a:moveTo>
                <a:cubicBezTo>
                  <a:pt x="1030" y="1"/>
                  <a:pt x="975" y="5"/>
                  <a:pt x="919" y="15"/>
                </a:cubicBezTo>
                <a:cubicBezTo>
                  <a:pt x="381" y="110"/>
                  <a:pt x="1" y="585"/>
                  <a:pt x="96" y="1124"/>
                </a:cubicBezTo>
                <a:cubicBezTo>
                  <a:pt x="181" y="1606"/>
                  <a:pt x="597" y="1962"/>
                  <a:pt x="1070" y="1962"/>
                </a:cubicBezTo>
                <a:cubicBezTo>
                  <a:pt x="1125" y="1962"/>
                  <a:pt x="1180" y="1957"/>
                  <a:pt x="1236" y="1947"/>
                </a:cubicBezTo>
                <a:cubicBezTo>
                  <a:pt x="1742" y="1852"/>
                  <a:pt x="2123" y="1345"/>
                  <a:pt x="2028" y="807"/>
                </a:cubicBezTo>
                <a:cubicBezTo>
                  <a:pt x="1942" y="353"/>
                  <a:pt x="1552" y="1"/>
                  <a:pt x="1085" y="1"/>
                </a:cubicBezTo>
                <a:close/>
              </a:path>
            </a:pathLst>
          </a:custGeom>
          <a:solidFill>
            <a:srgbClr val="5BCFC5"/>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06" name="Google Shape;306;g2f0967dc895_0_116"/>
          <p:cNvSpPr/>
          <p:nvPr/>
        </p:nvSpPr>
        <p:spPr>
          <a:xfrm>
            <a:off x="1221183" y="2891933"/>
            <a:ext cx="2217331" cy="3265830"/>
          </a:xfrm>
          <a:custGeom>
            <a:rect b="b" l="l" r="r" t="t"/>
            <a:pathLst>
              <a:path extrusionOk="0" h="83100" w="56435">
                <a:moveTo>
                  <a:pt x="3231" y="1045"/>
                </a:moveTo>
                <a:cubicBezTo>
                  <a:pt x="4434" y="1045"/>
                  <a:pt x="5416" y="2027"/>
                  <a:pt x="5416" y="3230"/>
                </a:cubicBezTo>
                <a:cubicBezTo>
                  <a:pt x="5416" y="4466"/>
                  <a:pt x="4434" y="5447"/>
                  <a:pt x="3231" y="5447"/>
                </a:cubicBezTo>
                <a:cubicBezTo>
                  <a:pt x="2027" y="5447"/>
                  <a:pt x="1045" y="4466"/>
                  <a:pt x="1045" y="3230"/>
                </a:cubicBezTo>
                <a:cubicBezTo>
                  <a:pt x="1045" y="2027"/>
                  <a:pt x="2027" y="1045"/>
                  <a:pt x="3231" y="1045"/>
                </a:cubicBezTo>
                <a:close/>
                <a:moveTo>
                  <a:pt x="53204" y="23055"/>
                </a:moveTo>
                <a:cubicBezTo>
                  <a:pt x="54408" y="23055"/>
                  <a:pt x="55390" y="24037"/>
                  <a:pt x="55390" y="25272"/>
                </a:cubicBezTo>
                <a:cubicBezTo>
                  <a:pt x="55390" y="26475"/>
                  <a:pt x="54408" y="27457"/>
                  <a:pt x="53204" y="27457"/>
                </a:cubicBezTo>
                <a:cubicBezTo>
                  <a:pt x="51969" y="27457"/>
                  <a:pt x="50988" y="26475"/>
                  <a:pt x="50988" y="25272"/>
                </a:cubicBezTo>
                <a:cubicBezTo>
                  <a:pt x="50988" y="24069"/>
                  <a:pt x="51938" y="23119"/>
                  <a:pt x="53109" y="23055"/>
                </a:cubicBezTo>
                <a:close/>
                <a:moveTo>
                  <a:pt x="3231" y="0"/>
                </a:moveTo>
                <a:cubicBezTo>
                  <a:pt x="1457" y="0"/>
                  <a:pt x="0" y="1457"/>
                  <a:pt x="0" y="3230"/>
                </a:cubicBezTo>
                <a:cubicBezTo>
                  <a:pt x="0" y="4814"/>
                  <a:pt x="1140" y="6144"/>
                  <a:pt x="2692" y="6429"/>
                </a:cubicBezTo>
                <a:lnTo>
                  <a:pt x="2756" y="6429"/>
                </a:lnTo>
                <a:lnTo>
                  <a:pt x="2756" y="70559"/>
                </a:lnTo>
                <a:cubicBezTo>
                  <a:pt x="2756" y="73884"/>
                  <a:pt x="4086" y="77051"/>
                  <a:pt x="6429" y="79426"/>
                </a:cubicBezTo>
                <a:cubicBezTo>
                  <a:pt x="8804" y="81801"/>
                  <a:pt x="11971" y="83099"/>
                  <a:pt x="15328" y="83099"/>
                </a:cubicBezTo>
                <a:lnTo>
                  <a:pt x="41012" y="83099"/>
                </a:lnTo>
                <a:cubicBezTo>
                  <a:pt x="44369" y="83099"/>
                  <a:pt x="47536" y="81769"/>
                  <a:pt x="49879" y="79426"/>
                </a:cubicBezTo>
                <a:cubicBezTo>
                  <a:pt x="52254" y="77051"/>
                  <a:pt x="53553" y="73884"/>
                  <a:pt x="53553" y="70559"/>
                </a:cubicBezTo>
                <a:lnTo>
                  <a:pt x="53553" y="28471"/>
                </a:lnTo>
                <a:lnTo>
                  <a:pt x="53648" y="28439"/>
                </a:lnTo>
                <a:cubicBezTo>
                  <a:pt x="55231" y="28217"/>
                  <a:pt x="56403" y="26855"/>
                  <a:pt x="56403" y="25240"/>
                </a:cubicBezTo>
                <a:cubicBezTo>
                  <a:pt x="56435" y="23657"/>
                  <a:pt x="55231" y="22295"/>
                  <a:pt x="53648" y="22073"/>
                </a:cubicBezTo>
                <a:cubicBezTo>
                  <a:pt x="53491" y="22045"/>
                  <a:pt x="53328" y="22029"/>
                  <a:pt x="53162" y="22029"/>
                </a:cubicBezTo>
                <a:cubicBezTo>
                  <a:pt x="52958" y="22029"/>
                  <a:pt x="52749" y="22053"/>
                  <a:pt x="52539" y="22105"/>
                </a:cubicBezTo>
                <a:cubicBezTo>
                  <a:pt x="51051" y="22390"/>
                  <a:pt x="49974" y="23720"/>
                  <a:pt x="49974" y="25240"/>
                </a:cubicBezTo>
                <a:cubicBezTo>
                  <a:pt x="49974" y="26792"/>
                  <a:pt x="51051" y="28122"/>
                  <a:pt x="52539" y="28407"/>
                </a:cubicBezTo>
                <a:lnTo>
                  <a:pt x="52634" y="28439"/>
                </a:lnTo>
                <a:lnTo>
                  <a:pt x="52634" y="70527"/>
                </a:lnTo>
                <a:cubicBezTo>
                  <a:pt x="52634" y="76956"/>
                  <a:pt x="47409" y="82149"/>
                  <a:pt x="41012" y="82149"/>
                </a:cubicBezTo>
                <a:lnTo>
                  <a:pt x="15328" y="82149"/>
                </a:lnTo>
                <a:cubicBezTo>
                  <a:pt x="8899" y="82149"/>
                  <a:pt x="3706" y="76956"/>
                  <a:pt x="3706" y="70527"/>
                </a:cubicBezTo>
                <a:lnTo>
                  <a:pt x="3706" y="6429"/>
                </a:lnTo>
                <a:lnTo>
                  <a:pt x="3801" y="6429"/>
                </a:lnTo>
                <a:cubicBezTo>
                  <a:pt x="5352" y="6144"/>
                  <a:pt x="6461" y="4814"/>
                  <a:pt x="6461" y="3230"/>
                </a:cubicBezTo>
                <a:cubicBezTo>
                  <a:pt x="6461" y="1457"/>
                  <a:pt x="5004" y="0"/>
                  <a:pt x="3231" y="0"/>
                </a:cubicBezTo>
                <a:close/>
              </a:path>
            </a:pathLst>
          </a:custGeom>
          <a:solidFill>
            <a:srgbClr val="0D0C1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07" name="Google Shape;307;g2f0967dc895_0_116"/>
          <p:cNvSpPr/>
          <p:nvPr/>
        </p:nvSpPr>
        <p:spPr>
          <a:xfrm>
            <a:off x="5226540" y="3845901"/>
            <a:ext cx="83373" cy="77146"/>
          </a:xfrm>
          <a:custGeom>
            <a:rect b="b" l="l" r="r" t="t"/>
            <a:pathLst>
              <a:path extrusionOk="0" h="1963" w="2122">
                <a:moveTo>
                  <a:pt x="1096" y="1"/>
                </a:moveTo>
                <a:cubicBezTo>
                  <a:pt x="1037" y="1"/>
                  <a:pt x="978" y="6"/>
                  <a:pt x="919" y="16"/>
                </a:cubicBezTo>
                <a:cubicBezTo>
                  <a:pt x="380" y="80"/>
                  <a:pt x="0" y="586"/>
                  <a:pt x="95" y="1125"/>
                </a:cubicBezTo>
                <a:cubicBezTo>
                  <a:pt x="180" y="1607"/>
                  <a:pt x="596" y="1963"/>
                  <a:pt x="1069" y="1963"/>
                </a:cubicBezTo>
                <a:cubicBezTo>
                  <a:pt x="1124" y="1963"/>
                  <a:pt x="1179" y="1958"/>
                  <a:pt x="1235" y="1948"/>
                </a:cubicBezTo>
                <a:cubicBezTo>
                  <a:pt x="1774" y="1853"/>
                  <a:pt x="2122" y="1346"/>
                  <a:pt x="2027" y="808"/>
                </a:cubicBezTo>
                <a:cubicBezTo>
                  <a:pt x="1971" y="329"/>
                  <a:pt x="1564" y="1"/>
                  <a:pt x="1096" y="1"/>
                </a:cubicBezTo>
                <a:close/>
              </a:path>
            </a:pathLst>
          </a:custGeom>
          <a:solidFill>
            <a:srgbClr val="5BCFC5"/>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solidFill>
                <a:srgbClr val="5BCFC5"/>
              </a:solidFill>
            </a:endParaRPr>
          </a:p>
        </p:txBody>
      </p:sp>
      <p:sp>
        <p:nvSpPr>
          <p:cNvPr id="308" name="Google Shape;308;g2f0967dc895_0_116"/>
          <p:cNvSpPr/>
          <p:nvPr/>
        </p:nvSpPr>
        <p:spPr>
          <a:xfrm>
            <a:off x="3290439" y="1611225"/>
            <a:ext cx="2105355" cy="2400248"/>
          </a:xfrm>
          <a:custGeom>
            <a:rect b="b" l="l" r="r" t="t"/>
            <a:pathLst>
              <a:path extrusionOk="0" h="61075" w="53585">
                <a:moveTo>
                  <a:pt x="50354" y="55643"/>
                </a:moveTo>
                <a:cubicBezTo>
                  <a:pt x="51557" y="55643"/>
                  <a:pt x="52539" y="56625"/>
                  <a:pt x="52539" y="57860"/>
                </a:cubicBezTo>
                <a:cubicBezTo>
                  <a:pt x="52539" y="59063"/>
                  <a:pt x="51557" y="60045"/>
                  <a:pt x="50354" y="60045"/>
                </a:cubicBezTo>
                <a:cubicBezTo>
                  <a:pt x="49119" y="60045"/>
                  <a:pt x="48169" y="59063"/>
                  <a:pt x="48169" y="57860"/>
                </a:cubicBezTo>
                <a:cubicBezTo>
                  <a:pt x="48169" y="56625"/>
                  <a:pt x="49150" y="55643"/>
                  <a:pt x="50354" y="55643"/>
                </a:cubicBezTo>
                <a:close/>
                <a:moveTo>
                  <a:pt x="12573" y="1"/>
                </a:moveTo>
                <a:cubicBezTo>
                  <a:pt x="9216" y="1"/>
                  <a:pt x="6049" y="1331"/>
                  <a:pt x="3674" y="3675"/>
                </a:cubicBezTo>
                <a:cubicBezTo>
                  <a:pt x="1330" y="6050"/>
                  <a:pt x="0" y="9217"/>
                  <a:pt x="0" y="12542"/>
                </a:cubicBezTo>
                <a:lnTo>
                  <a:pt x="0" y="55073"/>
                </a:lnTo>
                <a:cubicBezTo>
                  <a:pt x="0" y="55358"/>
                  <a:pt x="222" y="55548"/>
                  <a:pt x="475" y="55548"/>
                </a:cubicBezTo>
                <a:lnTo>
                  <a:pt x="507" y="55548"/>
                </a:lnTo>
                <a:cubicBezTo>
                  <a:pt x="760" y="55548"/>
                  <a:pt x="950" y="55327"/>
                  <a:pt x="950" y="55073"/>
                </a:cubicBezTo>
                <a:lnTo>
                  <a:pt x="950" y="12542"/>
                </a:lnTo>
                <a:cubicBezTo>
                  <a:pt x="950" y="6145"/>
                  <a:pt x="6144" y="951"/>
                  <a:pt x="12573" y="951"/>
                </a:cubicBezTo>
                <a:lnTo>
                  <a:pt x="38256" y="951"/>
                </a:lnTo>
                <a:cubicBezTo>
                  <a:pt x="44653" y="951"/>
                  <a:pt x="49879" y="6145"/>
                  <a:pt x="49879" y="12542"/>
                </a:cubicBezTo>
                <a:lnTo>
                  <a:pt x="49879" y="54661"/>
                </a:lnTo>
                <a:lnTo>
                  <a:pt x="49784" y="54661"/>
                </a:lnTo>
                <a:cubicBezTo>
                  <a:pt x="48232" y="54946"/>
                  <a:pt x="47124" y="56277"/>
                  <a:pt x="47124" y="57828"/>
                </a:cubicBezTo>
                <a:cubicBezTo>
                  <a:pt x="47124" y="59412"/>
                  <a:pt x="48232" y="60742"/>
                  <a:pt x="49784" y="61027"/>
                </a:cubicBezTo>
                <a:cubicBezTo>
                  <a:pt x="49974" y="61059"/>
                  <a:pt x="50164" y="61074"/>
                  <a:pt x="50350" y="61074"/>
                </a:cubicBezTo>
                <a:cubicBezTo>
                  <a:pt x="50536" y="61074"/>
                  <a:pt x="50718" y="61059"/>
                  <a:pt x="50892" y="61027"/>
                </a:cubicBezTo>
                <a:cubicBezTo>
                  <a:pt x="52444" y="60742"/>
                  <a:pt x="53552" y="59412"/>
                  <a:pt x="53552" y="57828"/>
                </a:cubicBezTo>
                <a:cubicBezTo>
                  <a:pt x="53584" y="56277"/>
                  <a:pt x="52444" y="54915"/>
                  <a:pt x="50892" y="54661"/>
                </a:cubicBezTo>
                <a:lnTo>
                  <a:pt x="50797" y="54661"/>
                </a:lnTo>
                <a:lnTo>
                  <a:pt x="50797" y="12542"/>
                </a:lnTo>
                <a:cubicBezTo>
                  <a:pt x="50797" y="9217"/>
                  <a:pt x="49499" y="6050"/>
                  <a:pt x="47124" y="3675"/>
                </a:cubicBezTo>
                <a:cubicBezTo>
                  <a:pt x="44748" y="1299"/>
                  <a:pt x="41613" y="1"/>
                  <a:pt x="38256" y="1"/>
                </a:cubicBezTo>
                <a:close/>
              </a:path>
            </a:pathLst>
          </a:custGeom>
          <a:solidFill>
            <a:srgbClr val="0D0C1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09" name="Google Shape;309;g2f0967dc895_0_116"/>
          <p:cNvSpPr/>
          <p:nvPr/>
        </p:nvSpPr>
        <p:spPr>
          <a:xfrm>
            <a:off x="7186255" y="3845273"/>
            <a:ext cx="77205" cy="77225"/>
          </a:xfrm>
          <a:custGeom>
            <a:rect b="b" l="l" r="r" t="t"/>
            <a:pathLst>
              <a:path extrusionOk="0" h="1965" w="1965">
                <a:moveTo>
                  <a:pt x="983" y="1"/>
                </a:moveTo>
                <a:cubicBezTo>
                  <a:pt x="444" y="1"/>
                  <a:pt x="1" y="444"/>
                  <a:pt x="1" y="982"/>
                </a:cubicBezTo>
                <a:cubicBezTo>
                  <a:pt x="1" y="1521"/>
                  <a:pt x="444" y="1964"/>
                  <a:pt x="983" y="1964"/>
                </a:cubicBezTo>
                <a:cubicBezTo>
                  <a:pt x="1521" y="1964"/>
                  <a:pt x="1964" y="1521"/>
                  <a:pt x="1964" y="982"/>
                </a:cubicBezTo>
                <a:cubicBezTo>
                  <a:pt x="1964" y="444"/>
                  <a:pt x="1521" y="1"/>
                  <a:pt x="983" y="1"/>
                </a:cubicBezTo>
                <a:close/>
              </a:path>
            </a:pathLst>
          </a:custGeom>
          <a:solidFill>
            <a:srgbClr val="5BCFC5"/>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10" name="Google Shape;310;g2f0967dc895_0_116"/>
          <p:cNvSpPr/>
          <p:nvPr/>
        </p:nvSpPr>
        <p:spPr>
          <a:xfrm>
            <a:off x="5247679" y="3757516"/>
            <a:ext cx="2104097" cy="2400248"/>
          </a:xfrm>
          <a:custGeom>
            <a:rect b="b" l="l" r="r" t="t"/>
            <a:pathLst>
              <a:path extrusionOk="0" h="61075" w="53553">
                <a:moveTo>
                  <a:pt x="50323" y="935"/>
                </a:moveTo>
                <a:cubicBezTo>
                  <a:pt x="51589" y="935"/>
                  <a:pt x="52634" y="1980"/>
                  <a:pt x="52634" y="3215"/>
                </a:cubicBezTo>
                <a:cubicBezTo>
                  <a:pt x="52634" y="4482"/>
                  <a:pt x="51589" y="5527"/>
                  <a:pt x="50323" y="5527"/>
                </a:cubicBezTo>
                <a:cubicBezTo>
                  <a:pt x="49721" y="5527"/>
                  <a:pt x="49151" y="5274"/>
                  <a:pt x="48708" y="4862"/>
                </a:cubicBezTo>
                <a:cubicBezTo>
                  <a:pt x="48296" y="4419"/>
                  <a:pt x="48042" y="3849"/>
                  <a:pt x="48042" y="3215"/>
                </a:cubicBezTo>
                <a:cubicBezTo>
                  <a:pt x="48042" y="1980"/>
                  <a:pt x="49088" y="935"/>
                  <a:pt x="50323" y="935"/>
                </a:cubicBezTo>
                <a:close/>
                <a:moveTo>
                  <a:pt x="50338" y="1"/>
                </a:moveTo>
                <a:cubicBezTo>
                  <a:pt x="50148" y="1"/>
                  <a:pt x="49958" y="17"/>
                  <a:pt x="49784" y="48"/>
                </a:cubicBezTo>
                <a:cubicBezTo>
                  <a:pt x="48232" y="333"/>
                  <a:pt x="47124" y="1664"/>
                  <a:pt x="47124" y="3215"/>
                </a:cubicBezTo>
                <a:cubicBezTo>
                  <a:pt x="47124" y="4799"/>
                  <a:pt x="48232" y="6129"/>
                  <a:pt x="49784" y="6414"/>
                </a:cubicBezTo>
                <a:lnTo>
                  <a:pt x="49879" y="6414"/>
                </a:lnTo>
                <a:lnTo>
                  <a:pt x="49879" y="48534"/>
                </a:lnTo>
                <a:cubicBezTo>
                  <a:pt x="49879" y="54931"/>
                  <a:pt x="44654" y="60124"/>
                  <a:pt x="38257" y="60124"/>
                </a:cubicBezTo>
                <a:lnTo>
                  <a:pt x="12573" y="60124"/>
                </a:lnTo>
                <a:cubicBezTo>
                  <a:pt x="6144" y="60124"/>
                  <a:pt x="951" y="54931"/>
                  <a:pt x="951" y="48534"/>
                </a:cubicBezTo>
                <a:lnTo>
                  <a:pt x="951" y="6002"/>
                </a:lnTo>
                <a:cubicBezTo>
                  <a:pt x="951" y="5717"/>
                  <a:pt x="729" y="5527"/>
                  <a:pt x="476" y="5527"/>
                </a:cubicBezTo>
                <a:cubicBezTo>
                  <a:pt x="222" y="5527"/>
                  <a:pt x="1" y="5717"/>
                  <a:pt x="1" y="6002"/>
                </a:cubicBezTo>
                <a:lnTo>
                  <a:pt x="1" y="48534"/>
                </a:lnTo>
                <a:cubicBezTo>
                  <a:pt x="1" y="51859"/>
                  <a:pt x="1331" y="55026"/>
                  <a:pt x="3674" y="57401"/>
                </a:cubicBezTo>
                <a:cubicBezTo>
                  <a:pt x="6049" y="59776"/>
                  <a:pt x="9216" y="61074"/>
                  <a:pt x="12573" y="61074"/>
                </a:cubicBezTo>
                <a:lnTo>
                  <a:pt x="38257" y="61074"/>
                </a:lnTo>
                <a:cubicBezTo>
                  <a:pt x="41614" y="61074"/>
                  <a:pt x="44749" y="59744"/>
                  <a:pt x="47124" y="57401"/>
                </a:cubicBezTo>
                <a:cubicBezTo>
                  <a:pt x="49499" y="55026"/>
                  <a:pt x="50798" y="51859"/>
                  <a:pt x="50798" y="48534"/>
                </a:cubicBezTo>
                <a:lnTo>
                  <a:pt x="50798" y="6414"/>
                </a:lnTo>
                <a:lnTo>
                  <a:pt x="50893" y="6414"/>
                </a:lnTo>
                <a:cubicBezTo>
                  <a:pt x="52444" y="6129"/>
                  <a:pt x="53553" y="4799"/>
                  <a:pt x="53553" y="3215"/>
                </a:cubicBezTo>
                <a:cubicBezTo>
                  <a:pt x="53553" y="1664"/>
                  <a:pt x="52444" y="302"/>
                  <a:pt x="50893" y="48"/>
                </a:cubicBezTo>
                <a:cubicBezTo>
                  <a:pt x="50719" y="17"/>
                  <a:pt x="50529" y="1"/>
                  <a:pt x="50338" y="1"/>
                </a:cubicBezTo>
                <a:close/>
              </a:path>
            </a:pathLst>
          </a:custGeom>
          <a:solidFill>
            <a:srgbClr val="0D0C1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11" name="Google Shape;311;g2f0967dc895_0_116"/>
          <p:cNvSpPr/>
          <p:nvPr/>
        </p:nvSpPr>
        <p:spPr>
          <a:xfrm>
            <a:off x="9152257" y="3845823"/>
            <a:ext cx="87106" cy="77342"/>
          </a:xfrm>
          <a:custGeom>
            <a:rect b="b" l="l" r="r" t="t"/>
            <a:pathLst>
              <a:path extrusionOk="0" h="1968" w="2217">
                <a:moveTo>
                  <a:pt x="1103" y="0"/>
                </a:moveTo>
                <a:cubicBezTo>
                  <a:pt x="719" y="0"/>
                  <a:pt x="356" y="232"/>
                  <a:pt x="190" y="588"/>
                </a:cubicBezTo>
                <a:cubicBezTo>
                  <a:pt x="0" y="1095"/>
                  <a:pt x="222" y="1665"/>
                  <a:pt x="728" y="1887"/>
                </a:cubicBezTo>
                <a:cubicBezTo>
                  <a:pt x="854" y="1942"/>
                  <a:pt x="983" y="1967"/>
                  <a:pt x="1110" y="1967"/>
                </a:cubicBezTo>
                <a:cubicBezTo>
                  <a:pt x="1494" y="1967"/>
                  <a:pt x="1852" y="1730"/>
                  <a:pt x="1995" y="1348"/>
                </a:cubicBezTo>
                <a:cubicBezTo>
                  <a:pt x="2217" y="842"/>
                  <a:pt x="1964" y="272"/>
                  <a:pt x="1488" y="82"/>
                </a:cubicBezTo>
                <a:cubicBezTo>
                  <a:pt x="1362" y="26"/>
                  <a:pt x="1231" y="0"/>
                  <a:pt x="1103" y="0"/>
                </a:cubicBezTo>
                <a:close/>
              </a:path>
            </a:pathLst>
          </a:custGeom>
          <a:solidFill>
            <a:srgbClr val="5BCFC5"/>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12" name="Google Shape;312;g2f0967dc895_0_116"/>
          <p:cNvSpPr/>
          <p:nvPr/>
        </p:nvSpPr>
        <p:spPr>
          <a:xfrm>
            <a:off x="9153475" y="3841539"/>
            <a:ext cx="84670" cy="85910"/>
          </a:xfrm>
          <a:custGeom>
            <a:rect b="b" l="l" r="r" t="t"/>
            <a:pathLst>
              <a:path extrusionOk="0" h="2186" w="2155">
                <a:moveTo>
                  <a:pt x="1077" y="222"/>
                </a:moveTo>
                <a:cubicBezTo>
                  <a:pt x="1552" y="222"/>
                  <a:pt x="1964" y="602"/>
                  <a:pt x="1964" y="1077"/>
                </a:cubicBezTo>
                <a:cubicBezTo>
                  <a:pt x="1964" y="1584"/>
                  <a:pt x="1552" y="1964"/>
                  <a:pt x="1077" y="1964"/>
                </a:cubicBezTo>
                <a:cubicBezTo>
                  <a:pt x="571" y="1964"/>
                  <a:pt x="191" y="1584"/>
                  <a:pt x="191" y="1077"/>
                </a:cubicBezTo>
                <a:cubicBezTo>
                  <a:pt x="191" y="602"/>
                  <a:pt x="571" y="222"/>
                  <a:pt x="1077" y="222"/>
                </a:cubicBezTo>
                <a:close/>
                <a:moveTo>
                  <a:pt x="1077" y="1"/>
                </a:moveTo>
                <a:cubicBezTo>
                  <a:pt x="476" y="1"/>
                  <a:pt x="1" y="507"/>
                  <a:pt x="1" y="1077"/>
                </a:cubicBezTo>
                <a:cubicBezTo>
                  <a:pt x="1" y="1679"/>
                  <a:pt x="476" y="2186"/>
                  <a:pt x="1077" y="2186"/>
                </a:cubicBezTo>
                <a:cubicBezTo>
                  <a:pt x="1679" y="2186"/>
                  <a:pt x="2154" y="1679"/>
                  <a:pt x="2154" y="1077"/>
                </a:cubicBezTo>
                <a:cubicBezTo>
                  <a:pt x="2154" y="507"/>
                  <a:pt x="1648" y="1"/>
                  <a:pt x="1077" y="1"/>
                </a:cubicBezTo>
                <a:close/>
              </a:path>
            </a:pathLst>
          </a:cu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13" name="Google Shape;313;g2f0967dc895_0_116"/>
          <p:cNvSpPr/>
          <p:nvPr/>
        </p:nvSpPr>
        <p:spPr>
          <a:xfrm>
            <a:off x="7208651" y="1611225"/>
            <a:ext cx="2114077" cy="2400090"/>
          </a:xfrm>
          <a:custGeom>
            <a:rect b="b" l="l" r="r" t="t"/>
            <a:pathLst>
              <a:path extrusionOk="0" h="61071" w="53807">
                <a:moveTo>
                  <a:pt x="50576" y="55548"/>
                </a:moveTo>
                <a:cubicBezTo>
                  <a:pt x="51812" y="55548"/>
                  <a:pt x="52857" y="56562"/>
                  <a:pt x="52857" y="57828"/>
                </a:cubicBezTo>
                <a:cubicBezTo>
                  <a:pt x="52857" y="59095"/>
                  <a:pt x="51843" y="60140"/>
                  <a:pt x="50576" y="60140"/>
                </a:cubicBezTo>
                <a:cubicBezTo>
                  <a:pt x="50513" y="60140"/>
                  <a:pt x="50450" y="60140"/>
                  <a:pt x="50386" y="60109"/>
                </a:cubicBezTo>
                <a:cubicBezTo>
                  <a:pt x="49215" y="60014"/>
                  <a:pt x="48265" y="59032"/>
                  <a:pt x="48265" y="57828"/>
                </a:cubicBezTo>
                <a:cubicBezTo>
                  <a:pt x="48265" y="56562"/>
                  <a:pt x="49310" y="55548"/>
                  <a:pt x="50576" y="55548"/>
                </a:cubicBezTo>
                <a:close/>
                <a:moveTo>
                  <a:pt x="12542" y="1"/>
                </a:moveTo>
                <a:cubicBezTo>
                  <a:pt x="9217" y="1"/>
                  <a:pt x="6050" y="1331"/>
                  <a:pt x="3675" y="3675"/>
                </a:cubicBezTo>
                <a:cubicBezTo>
                  <a:pt x="1299" y="6050"/>
                  <a:pt x="1" y="9217"/>
                  <a:pt x="1" y="12542"/>
                </a:cubicBezTo>
                <a:lnTo>
                  <a:pt x="1" y="55073"/>
                </a:lnTo>
                <a:cubicBezTo>
                  <a:pt x="1" y="55327"/>
                  <a:pt x="223" y="55548"/>
                  <a:pt x="476" y="55548"/>
                </a:cubicBezTo>
                <a:cubicBezTo>
                  <a:pt x="729" y="55548"/>
                  <a:pt x="951" y="55327"/>
                  <a:pt x="951" y="55073"/>
                </a:cubicBezTo>
                <a:lnTo>
                  <a:pt x="951" y="12542"/>
                </a:lnTo>
                <a:cubicBezTo>
                  <a:pt x="951" y="6145"/>
                  <a:pt x="6145" y="951"/>
                  <a:pt x="12542" y="951"/>
                </a:cubicBezTo>
                <a:lnTo>
                  <a:pt x="38257" y="951"/>
                </a:lnTo>
                <a:cubicBezTo>
                  <a:pt x="44654" y="951"/>
                  <a:pt x="49880" y="6145"/>
                  <a:pt x="49880" y="12542"/>
                </a:cubicBezTo>
                <a:lnTo>
                  <a:pt x="49880" y="54693"/>
                </a:lnTo>
                <a:lnTo>
                  <a:pt x="49785" y="54725"/>
                </a:lnTo>
                <a:cubicBezTo>
                  <a:pt x="48360" y="55073"/>
                  <a:pt x="47346" y="56372"/>
                  <a:pt x="47346" y="57860"/>
                </a:cubicBezTo>
                <a:cubicBezTo>
                  <a:pt x="47346" y="59317"/>
                  <a:pt x="48360" y="60615"/>
                  <a:pt x="49785" y="60964"/>
                </a:cubicBezTo>
                <a:cubicBezTo>
                  <a:pt x="50070" y="61035"/>
                  <a:pt x="50355" y="61070"/>
                  <a:pt x="50626" y="61070"/>
                </a:cubicBezTo>
                <a:cubicBezTo>
                  <a:pt x="50717" y="61070"/>
                  <a:pt x="50806" y="61066"/>
                  <a:pt x="50893" y="61059"/>
                </a:cubicBezTo>
                <a:cubicBezTo>
                  <a:pt x="52540" y="60900"/>
                  <a:pt x="53807" y="59507"/>
                  <a:pt x="53807" y="57860"/>
                </a:cubicBezTo>
                <a:cubicBezTo>
                  <a:pt x="53807" y="56182"/>
                  <a:pt x="52540" y="54788"/>
                  <a:pt x="50893" y="54630"/>
                </a:cubicBezTo>
                <a:lnTo>
                  <a:pt x="50798" y="54630"/>
                </a:lnTo>
                <a:lnTo>
                  <a:pt x="50798" y="12542"/>
                </a:lnTo>
                <a:cubicBezTo>
                  <a:pt x="50798" y="9217"/>
                  <a:pt x="49500" y="6050"/>
                  <a:pt x="47125" y="3675"/>
                </a:cubicBezTo>
                <a:cubicBezTo>
                  <a:pt x="44749" y="1299"/>
                  <a:pt x="41614" y="1"/>
                  <a:pt x="38257" y="1"/>
                </a:cubicBezTo>
                <a:close/>
              </a:path>
            </a:pathLst>
          </a:custGeom>
          <a:solidFill>
            <a:srgbClr val="0D0C1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14" name="Google Shape;314;g2f0967dc895_0_116"/>
          <p:cNvSpPr/>
          <p:nvPr/>
        </p:nvSpPr>
        <p:spPr>
          <a:xfrm>
            <a:off x="9104952" y="3794261"/>
            <a:ext cx="180459" cy="180505"/>
          </a:xfrm>
          <a:custGeom>
            <a:rect b="b" l="l" r="r" t="t"/>
            <a:pathLst>
              <a:path extrusionOk="0" h="4593" w="4593">
                <a:moveTo>
                  <a:pt x="2312" y="95"/>
                </a:moveTo>
                <a:cubicBezTo>
                  <a:pt x="3516" y="95"/>
                  <a:pt x="4498" y="1077"/>
                  <a:pt x="4498" y="2280"/>
                </a:cubicBezTo>
                <a:cubicBezTo>
                  <a:pt x="4498" y="3515"/>
                  <a:pt x="3516" y="4497"/>
                  <a:pt x="2312" y="4497"/>
                </a:cubicBezTo>
                <a:cubicBezTo>
                  <a:pt x="2249" y="4497"/>
                  <a:pt x="2186" y="4497"/>
                  <a:pt x="2122" y="4466"/>
                </a:cubicBezTo>
                <a:cubicBezTo>
                  <a:pt x="982" y="4402"/>
                  <a:pt x="96" y="3452"/>
                  <a:pt x="96" y="2280"/>
                </a:cubicBezTo>
                <a:cubicBezTo>
                  <a:pt x="96" y="1077"/>
                  <a:pt x="1077" y="95"/>
                  <a:pt x="2312" y="95"/>
                </a:cubicBezTo>
                <a:close/>
                <a:moveTo>
                  <a:pt x="2312" y="0"/>
                </a:moveTo>
                <a:cubicBezTo>
                  <a:pt x="1046" y="0"/>
                  <a:pt x="1" y="1045"/>
                  <a:pt x="1" y="2280"/>
                </a:cubicBezTo>
                <a:cubicBezTo>
                  <a:pt x="1" y="3484"/>
                  <a:pt x="951" y="4497"/>
                  <a:pt x="2122" y="4592"/>
                </a:cubicBezTo>
                <a:lnTo>
                  <a:pt x="2312" y="4592"/>
                </a:lnTo>
                <a:cubicBezTo>
                  <a:pt x="3579" y="4592"/>
                  <a:pt x="4593" y="3547"/>
                  <a:pt x="4593" y="2312"/>
                </a:cubicBezTo>
                <a:cubicBezTo>
                  <a:pt x="4593" y="1045"/>
                  <a:pt x="3579" y="0"/>
                  <a:pt x="2312" y="0"/>
                </a:cubicBezTo>
                <a:close/>
              </a:path>
            </a:pathLst>
          </a:cu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15" name="Google Shape;315;g2f0967dc895_0_116"/>
          <p:cNvSpPr/>
          <p:nvPr/>
        </p:nvSpPr>
        <p:spPr>
          <a:xfrm>
            <a:off x="9109941" y="3797995"/>
            <a:ext cx="171737" cy="173038"/>
          </a:xfrm>
          <a:custGeom>
            <a:rect b="b" l="l" r="r" t="t"/>
            <a:pathLst>
              <a:path extrusionOk="0" h="4403" w="4371">
                <a:moveTo>
                  <a:pt x="2185" y="95"/>
                </a:moveTo>
                <a:cubicBezTo>
                  <a:pt x="3326" y="95"/>
                  <a:pt x="4276" y="1045"/>
                  <a:pt x="4276" y="2185"/>
                </a:cubicBezTo>
                <a:cubicBezTo>
                  <a:pt x="4276" y="3357"/>
                  <a:pt x="3326" y="4276"/>
                  <a:pt x="2185" y="4276"/>
                </a:cubicBezTo>
                <a:lnTo>
                  <a:pt x="1995" y="4276"/>
                </a:lnTo>
                <a:cubicBezTo>
                  <a:pt x="919" y="4180"/>
                  <a:pt x="95" y="3262"/>
                  <a:pt x="95" y="2185"/>
                </a:cubicBezTo>
                <a:cubicBezTo>
                  <a:pt x="95" y="1045"/>
                  <a:pt x="1014" y="95"/>
                  <a:pt x="2185" y="95"/>
                </a:cubicBezTo>
                <a:close/>
                <a:moveTo>
                  <a:pt x="2185" y="0"/>
                </a:moveTo>
                <a:cubicBezTo>
                  <a:pt x="982" y="0"/>
                  <a:pt x="0" y="982"/>
                  <a:pt x="0" y="2185"/>
                </a:cubicBezTo>
                <a:cubicBezTo>
                  <a:pt x="0" y="3357"/>
                  <a:pt x="887" y="4276"/>
                  <a:pt x="1995" y="4371"/>
                </a:cubicBezTo>
                <a:cubicBezTo>
                  <a:pt x="2059" y="4402"/>
                  <a:pt x="2122" y="4402"/>
                  <a:pt x="2185" y="4402"/>
                </a:cubicBezTo>
                <a:cubicBezTo>
                  <a:pt x="3389" y="4402"/>
                  <a:pt x="4371" y="3420"/>
                  <a:pt x="4371" y="2217"/>
                </a:cubicBezTo>
                <a:cubicBezTo>
                  <a:pt x="4371" y="982"/>
                  <a:pt x="3389" y="0"/>
                  <a:pt x="2185" y="0"/>
                </a:cubicBezTo>
                <a:close/>
              </a:path>
            </a:pathLst>
          </a:cu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16" name="Google Shape;316;g2f0967dc895_0_116"/>
          <p:cNvSpPr/>
          <p:nvPr/>
        </p:nvSpPr>
        <p:spPr>
          <a:xfrm>
            <a:off x="11107021" y="2987747"/>
            <a:ext cx="77166" cy="77224"/>
          </a:xfrm>
          <a:custGeom>
            <a:rect b="b" l="l" r="r" t="t"/>
            <a:pathLst>
              <a:path extrusionOk="0" h="1965" w="1964">
                <a:moveTo>
                  <a:pt x="982" y="1"/>
                </a:moveTo>
                <a:cubicBezTo>
                  <a:pt x="444" y="1"/>
                  <a:pt x="0" y="444"/>
                  <a:pt x="0" y="982"/>
                </a:cubicBezTo>
                <a:cubicBezTo>
                  <a:pt x="0" y="1521"/>
                  <a:pt x="444" y="1964"/>
                  <a:pt x="982" y="1964"/>
                </a:cubicBezTo>
                <a:cubicBezTo>
                  <a:pt x="1520" y="1964"/>
                  <a:pt x="1964" y="1521"/>
                  <a:pt x="1964" y="982"/>
                </a:cubicBezTo>
                <a:cubicBezTo>
                  <a:pt x="1964" y="444"/>
                  <a:pt x="1520" y="1"/>
                  <a:pt x="982" y="1"/>
                </a:cubicBezTo>
                <a:close/>
              </a:path>
            </a:pathLst>
          </a:custGeom>
          <a:solidFill>
            <a:srgbClr val="5BCFC5"/>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17" name="Google Shape;317;g2f0967dc895_0_116"/>
          <p:cNvSpPr/>
          <p:nvPr/>
        </p:nvSpPr>
        <p:spPr>
          <a:xfrm>
            <a:off x="2192947" y="6040728"/>
            <a:ext cx="308623" cy="201648"/>
          </a:xfrm>
          <a:custGeom>
            <a:rect b="b" l="l" r="r" t="t"/>
            <a:pathLst>
              <a:path extrusionOk="0" h="5131" w="7855">
                <a:moveTo>
                  <a:pt x="1" y="1"/>
                </a:moveTo>
                <a:lnTo>
                  <a:pt x="2059" y="2027"/>
                </a:lnTo>
                <a:lnTo>
                  <a:pt x="1236" y="2027"/>
                </a:lnTo>
                <a:lnTo>
                  <a:pt x="1774" y="2566"/>
                </a:lnTo>
                <a:lnTo>
                  <a:pt x="1363" y="2977"/>
                </a:lnTo>
                <a:lnTo>
                  <a:pt x="2154" y="2977"/>
                </a:lnTo>
                <a:lnTo>
                  <a:pt x="1" y="5131"/>
                </a:lnTo>
                <a:lnTo>
                  <a:pt x="1331" y="5131"/>
                </a:lnTo>
                <a:lnTo>
                  <a:pt x="3485" y="2977"/>
                </a:lnTo>
                <a:lnTo>
                  <a:pt x="5321" y="2977"/>
                </a:lnTo>
                <a:lnTo>
                  <a:pt x="3168" y="5131"/>
                </a:lnTo>
                <a:lnTo>
                  <a:pt x="4498" y="5131"/>
                </a:lnTo>
                <a:lnTo>
                  <a:pt x="6651" y="2977"/>
                </a:lnTo>
                <a:lnTo>
                  <a:pt x="7443" y="2977"/>
                </a:lnTo>
                <a:lnTo>
                  <a:pt x="7855" y="2566"/>
                </a:lnTo>
                <a:lnTo>
                  <a:pt x="7348" y="2027"/>
                </a:lnTo>
                <a:lnTo>
                  <a:pt x="6525" y="2027"/>
                </a:lnTo>
                <a:lnTo>
                  <a:pt x="4498" y="1"/>
                </a:lnTo>
                <a:lnTo>
                  <a:pt x="3168" y="1"/>
                </a:lnTo>
                <a:lnTo>
                  <a:pt x="5195" y="2027"/>
                </a:lnTo>
                <a:lnTo>
                  <a:pt x="3358" y="2027"/>
                </a:lnTo>
                <a:lnTo>
                  <a:pt x="1331" y="1"/>
                </a:lnTo>
                <a:close/>
              </a:path>
            </a:pathLst>
          </a:custGeom>
          <a:solidFill>
            <a:srgbClr val="0D0C1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18" name="Google Shape;318;g2f0967dc895_0_116"/>
          <p:cNvSpPr/>
          <p:nvPr/>
        </p:nvSpPr>
        <p:spPr>
          <a:xfrm>
            <a:off x="6146048" y="6040728"/>
            <a:ext cx="308623" cy="201648"/>
          </a:xfrm>
          <a:custGeom>
            <a:rect b="b" l="l" r="r" t="t"/>
            <a:pathLst>
              <a:path extrusionOk="0" h="5131" w="7855">
                <a:moveTo>
                  <a:pt x="1" y="1"/>
                </a:moveTo>
                <a:lnTo>
                  <a:pt x="2027" y="2027"/>
                </a:lnTo>
                <a:lnTo>
                  <a:pt x="1236" y="2027"/>
                </a:lnTo>
                <a:lnTo>
                  <a:pt x="1742" y="2566"/>
                </a:lnTo>
                <a:lnTo>
                  <a:pt x="1331" y="2977"/>
                </a:lnTo>
                <a:lnTo>
                  <a:pt x="2154" y="2977"/>
                </a:lnTo>
                <a:lnTo>
                  <a:pt x="1" y="5131"/>
                </a:lnTo>
                <a:lnTo>
                  <a:pt x="1331" y="5131"/>
                </a:lnTo>
                <a:lnTo>
                  <a:pt x="3484" y="2977"/>
                </a:lnTo>
                <a:lnTo>
                  <a:pt x="5321" y="2977"/>
                </a:lnTo>
                <a:lnTo>
                  <a:pt x="3167" y="5131"/>
                </a:lnTo>
                <a:lnTo>
                  <a:pt x="4466" y="5131"/>
                </a:lnTo>
                <a:lnTo>
                  <a:pt x="6651" y="2977"/>
                </a:lnTo>
                <a:lnTo>
                  <a:pt x="7443" y="2977"/>
                </a:lnTo>
                <a:lnTo>
                  <a:pt x="7855" y="2566"/>
                </a:lnTo>
                <a:lnTo>
                  <a:pt x="7316" y="2027"/>
                </a:lnTo>
                <a:lnTo>
                  <a:pt x="6524" y="2027"/>
                </a:lnTo>
                <a:lnTo>
                  <a:pt x="4466" y="1"/>
                </a:lnTo>
                <a:lnTo>
                  <a:pt x="3167" y="1"/>
                </a:lnTo>
                <a:lnTo>
                  <a:pt x="5194" y="2027"/>
                </a:lnTo>
                <a:lnTo>
                  <a:pt x="3357" y="2027"/>
                </a:lnTo>
                <a:lnTo>
                  <a:pt x="1331" y="1"/>
                </a:lnTo>
                <a:close/>
              </a:path>
            </a:pathLst>
          </a:custGeom>
          <a:solidFill>
            <a:srgbClr val="0D0C1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19" name="Google Shape;319;g2f0967dc895_0_116"/>
          <p:cNvSpPr/>
          <p:nvPr/>
        </p:nvSpPr>
        <p:spPr>
          <a:xfrm>
            <a:off x="8110792" y="1531603"/>
            <a:ext cx="309841" cy="201648"/>
          </a:xfrm>
          <a:custGeom>
            <a:rect b="b" l="l" r="r" t="t"/>
            <a:pathLst>
              <a:path extrusionOk="0" h="5131" w="7886">
                <a:moveTo>
                  <a:pt x="0" y="0"/>
                </a:moveTo>
                <a:lnTo>
                  <a:pt x="2059" y="2027"/>
                </a:lnTo>
                <a:lnTo>
                  <a:pt x="1267" y="2027"/>
                </a:lnTo>
                <a:lnTo>
                  <a:pt x="1774" y="2565"/>
                </a:lnTo>
                <a:lnTo>
                  <a:pt x="1362" y="2977"/>
                </a:lnTo>
                <a:lnTo>
                  <a:pt x="2185" y="2977"/>
                </a:lnTo>
                <a:lnTo>
                  <a:pt x="0" y="5131"/>
                </a:lnTo>
                <a:lnTo>
                  <a:pt x="1330" y="5131"/>
                </a:lnTo>
                <a:lnTo>
                  <a:pt x="3484" y="2977"/>
                </a:lnTo>
                <a:lnTo>
                  <a:pt x="5320" y="2977"/>
                </a:lnTo>
                <a:lnTo>
                  <a:pt x="3167" y="5131"/>
                </a:lnTo>
                <a:lnTo>
                  <a:pt x="4497" y="5131"/>
                </a:lnTo>
                <a:lnTo>
                  <a:pt x="6651" y="2977"/>
                </a:lnTo>
                <a:lnTo>
                  <a:pt x="7474" y="2977"/>
                </a:lnTo>
                <a:lnTo>
                  <a:pt x="7886" y="2565"/>
                </a:lnTo>
                <a:lnTo>
                  <a:pt x="7347" y="2027"/>
                </a:lnTo>
                <a:lnTo>
                  <a:pt x="6556" y="2027"/>
                </a:lnTo>
                <a:lnTo>
                  <a:pt x="4497" y="0"/>
                </a:lnTo>
                <a:lnTo>
                  <a:pt x="3167" y="0"/>
                </a:lnTo>
                <a:lnTo>
                  <a:pt x="5225" y="2027"/>
                </a:lnTo>
                <a:lnTo>
                  <a:pt x="3389" y="2027"/>
                </a:lnTo>
                <a:lnTo>
                  <a:pt x="1330" y="0"/>
                </a:lnTo>
                <a:close/>
              </a:path>
            </a:pathLst>
          </a:custGeom>
          <a:solidFill>
            <a:srgbClr val="0D0C1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20" name="Google Shape;320;g2f0967dc895_0_116"/>
          <p:cNvSpPr/>
          <p:nvPr/>
        </p:nvSpPr>
        <p:spPr>
          <a:xfrm>
            <a:off x="4188808" y="1531603"/>
            <a:ext cx="308623" cy="201648"/>
          </a:xfrm>
          <a:custGeom>
            <a:rect b="b" l="l" r="r" t="t"/>
            <a:pathLst>
              <a:path extrusionOk="0" h="5131" w="7855">
                <a:moveTo>
                  <a:pt x="0" y="0"/>
                </a:moveTo>
                <a:lnTo>
                  <a:pt x="2027" y="2027"/>
                </a:lnTo>
                <a:lnTo>
                  <a:pt x="1235" y="2027"/>
                </a:lnTo>
                <a:lnTo>
                  <a:pt x="1774" y="2565"/>
                </a:lnTo>
                <a:lnTo>
                  <a:pt x="1362" y="2977"/>
                </a:lnTo>
                <a:lnTo>
                  <a:pt x="2154" y="2977"/>
                </a:lnTo>
                <a:lnTo>
                  <a:pt x="0" y="5131"/>
                </a:lnTo>
                <a:lnTo>
                  <a:pt x="1330" y="5131"/>
                </a:lnTo>
                <a:lnTo>
                  <a:pt x="3484" y="2977"/>
                </a:lnTo>
                <a:lnTo>
                  <a:pt x="5321" y="2977"/>
                </a:lnTo>
                <a:lnTo>
                  <a:pt x="3167" y="5131"/>
                </a:lnTo>
                <a:lnTo>
                  <a:pt x="4497" y="5131"/>
                </a:lnTo>
                <a:lnTo>
                  <a:pt x="6651" y="2977"/>
                </a:lnTo>
                <a:lnTo>
                  <a:pt x="7442" y="2977"/>
                </a:lnTo>
                <a:lnTo>
                  <a:pt x="7854" y="2565"/>
                </a:lnTo>
                <a:lnTo>
                  <a:pt x="7316" y="2027"/>
                </a:lnTo>
                <a:lnTo>
                  <a:pt x="6524" y="2027"/>
                </a:lnTo>
                <a:lnTo>
                  <a:pt x="4497" y="0"/>
                </a:lnTo>
                <a:lnTo>
                  <a:pt x="3167" y="0"/>
                </a:lnTo>
                <a:lnTo>
                  <a:pt x="5194" y="2027"/>
                </a:lnTo>
                <a:lnTo>
                  <a:pt x="3357" y="2027"/>
                </a:lnTo>
                <a:lnTo>
                  <a:pt x="1330" y="0"/>
                </a:lnTo>
                <a:close/>
              </a:path>
            </a:pathLst>
          </a:custGeom>
          <a:solidFill>
            <a:srgbClr val="0D0C1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21" name="Google Shape;321;g2f0967dc895_0_116"/>
          <p:cNvSpPr/>
          <p:nvPr/>
        </p:nvSpPr>
        <p:spPr>
          <a:xfrm>
            <a:off x="10065557" y="6040728"/>
            <a:ext cx="308623" cy="201648"/>
          </a:xfrm>
          <a:custGeom>
            <a:rect b="b" l="l" r="r" t="t"/>
            <a:pathLst>
              <a:path extrusionOk="0" h="5131" w="7855">
                <a:moveTo>
                  <a:pt x="0" y="1"/>
                </a:moveTo>
                <a:lnTo>
                  <a:pt x="2059" y="2027"/>
                </a:lnTo>
                <a:lnTo>
                  <a:pt x="1235" y="2027"/>
                </a:lnTo>
                <a:lnTo>
                  <a:pt x="1774" y="2566"/>
                </a:lnTo>
                <a:lnTo>
                  <a:pt x="1362" y="2977"/>
                </a:lnTo>
                <a:lnTo>
                  <a:pt x="2154" y="2977"/>
                </a:lnTo>
                <a:lnTo>
                  <a:pt x="0" y="5131"/>
                </a:lnTo>
                <a:lnTo>
                  <a:pt x="1330" y="5131"/>
                </a:lnTo>
                <a:lnTo>
                  <a:pt x="3484" y="2977"/>
                </a:lnTo>
                <a:lnTo>
                  <a:pt x="5321" y="2977"/>
                </a:lnTo>
                <a:lnTo>
                  <a:pt x="3167" y="5131"/>
                </a:lnTo>
                <a:lnTo>
                  <a:pt x="4497" y="5131"/>
                </a:lnTo>
                <a:lnTo>
                  <a:pt x="6651" y="2977"/>
                </a:lnTo>
                <a:lnTo>
                  <a:pt x="7442" y="2977"/>
                </a:lnTo>
                <a:lnTo>
                  <a:pt x="7854" y="2566"/>
                </a:lnTo>
                <a:lnTo>
                  <a:pt x="7347" y="2027"/>
                </a:lnTo>
                <a:lnTo>
                  <a:pt x="6524" y="2027"/>
                </a:lnTo>
                <a:lnTo>
                  <a:pt x="4497" y="1"/>
                </a:lnTo>
                <a:lnTo>
                  <a:pt x="3167" y="1"/>
                </a:lnTo>
                <a:lnTo>
                  <a:pt x="5194" y="2027"/>
                </a:lnTo>
                <a:lnTo>
                  <a:pt x="3357" y="2027"/>
                </a:lnTo>
                <a:lnTo>
                  <a:pt x="1330" y="1"/>
                </a:lnTo>
                <a:close/>
              </a:path>
            </a:pathLst>
          </a:custGeom>
          <a:solidFill>
            <a:srgbClr val="0D0C1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22" name="Google Shape;322;g2f0967dc895_0_116"/>
          <p:cNvSpPr/>
          <p:nvPr/>
        </p:nvSpPr>
        <p:spPr>
          <a:xfrm>
            <a:off x="9168405" y="2899400"/>
            <a:ext cx="2104137" cy="3257105"/>
          </a:xfrm>
          <a:custGeom>
            <a:rect b="b" l="l" r="r" t="t"/>
            <a:pathLst>
              <a:path extrusionOk="0" h="82878" w="53554">
                <a:moveTo>
                  <a:pt x="50323" y="919"/>
                </a:moveTo>
                <a:cubicBezTo>
                  <a:pt x="51558" y="919"/>
                  <a:pt x="52603" y="1964"/>
                  <a:pt x="52603" y="3230"/>
                </a:cubicBezTo>
                <a:cubicBezTo>
                  <a:pt x="52603" y="3294"/>
                  <a:pt x="52571" y="3357"/>
                  <a:pt x="52571" y="3452"/>
                </a:cubicBezTo>
                <a:cubicBezTo>
                  <a:pt x="52476" y="4434"/>
                  <a:pt x="51748" y="5257"/>
                  <a:pt x="50766" y="5447"/>
                </a:cubicBezTo>
                <a:cubicBezTo>
                  <a:pt x="50703" y="5479"/>
                  <a:pt x="50640" y="5479"/>
                  <a:pt x="50576" y="5479"/>
                </a:cubicBezTo>
                <a:lnTo>
                  <a:pt x="50545" y="5511"/>
                </a:lnTo>
                <a:lnTo>
                  <a:pt x="50070" y="5511"/>
                </a:lnTo>
                <a:lnTo>
                  <a:pt x="50038" y="5479"/>
                </a:lnTo>
                <a:cubicBezTo>
                  <a:pt x="49975" y="5479"/>
                  <a:pt x="49911" y="5479"/>
                  <a:pt x="49848" y="5447"/>
                </a:cubicBezTo>
                <a:cubicBezTo>
                  <a:pt x="48803" y="5226"/>
                  <a:pt x="48011" y="4307"/>
                  <a:pt x="48011" y="3230"/>
                </a:cubicBezTo>
                <a:cubicBezTo>
                  <a:pt x="48011" y="1964"/>
                  <a:pt x="49056" y="919"/>
                  <a:pt x="50323" y="919"/>
                </a:cubicBezTo>
                <a:close/>
                <a:moveTo>
                  <a:pt x="50323" y="0"/>
                </a:moveTo>
                <a:cubicBezTo>
                  <a:pt x="48549" y="0"/>
                  <a:pt x="47093" y="1457"/>
                  <a:pt x="47093" y="3230"/>
                </a:cubicBezTo>
                <a:cubicBezTo>
                  <a:pt x="47093" y="4814"/>
                  <a:pt x="48201" y="6144"/>
                  <a:pt x="49753" y="6397"/>
                </a:cubicBezTo>
                <a:lnTo>
                  <a:pt x="49848" y="6429"/>
                </a:lnTo>
                <a:lnTo>
                  <a:pt x="49848" y="70369"/>
                </a:lnTo>
                <a:cubicBezTo>
                  <a:pt x="49848" y="76766"/>
                  <a:pt x="44654" y="81959"/>
                  <a:pt x="38225" y="81959"/>
                </a:cubicBezTo>
                <a:lnTo>
                  <a:pt x="12542" y="81959"/>
                </a:lnTo>
                <a:cubicBezTo>
                  <a:pt x="6145" y="81959"/>
                  <a:pt x="919" y="76766"/>
                  <a:pt x="919" y="70369"/>
                </a:cubicBezTo>
                <a:lnTo>
                  <a:pt x="919" y="27806"/>
                </a:lnTo>
                <a:cubicBezTo>
                  <a:pt x="919" y="27584"/>
                  <a:pt x="729" y="27362"/>
                  <a:pt x="507" y="27331"/>
                </a:cubicBezTo>
                <a:lnTo>
                  <a:pt x="444" y="27331"/>
                </a:lnTo>
                <a:cubicBezTo>
                  <a:pt x="191" y="27331"/>
                  <a:pt x="1" y="27552"/>
                  <a:pt x="1" y="27806"/>
                </a:cubicBezTo>
                <a:lnTo>
                  <a:pt x="1" y="70337"/>
                </a:lnTo>
                <a:cubicBezTo>
                  <a:pt x="1" y="73694"/>
                  <a:pt x="1299" y="76861"/>
                  <a:pt x="3674" y="79204"/>
                </a:cubicBezTo>
                <a:cubicBezTo>
                  <a:pt x="6050" y="81579"/>
                  <a:pt x="9185" y="82878"/>
                  <a:pt x="12542" y="82878"/>
                </a:cubicBezTo>
                <a:lnTo>
                  <a:pt x="38225" y="82878"/>
                </a:lnTo>
                <a:cubicBezTo>
                  <a:pt x="41582" y="82878"/>
                  <a:pt x="44749" y="81579"/>
                  <a:pt x="47124" y="79204"/>
                </a:cubicBezTo>
                <a:cubicBezTo>
                  <a:pt x="49468" y="76861"/>
                  <a:pt x="50798" y="73694"/>
                  <a:pt x="50798" y="70337"/>
                </a:cubicBezTo>
                <a:lnTo>
                  <a:pt x="50798" y="6429"/>
                </a:lnTo>
                <a:lnTo>
                  <a:pt x="50861" y="6397"/>
                </a:lnTo>
                <a:cubicBezTo>
                  <a:pt x="52413" y="6144"/>
                  <a:pt x="53553" y="4782"/>
                  <a:pt x="53553" y="3230"/>
                </a:cubicBezTo>
                <a:cubicBezTo>
                  <a:pt x="53553" y="1457"/>
                  <a:pt x="52096" y="0"/>
                  <a:pt x="50323" y="0"/>
                </a:cubicBezTo>
                <a:close/>
              </a:path>
            </a:pathLst>
          </a:custGeom>
          <a:solidFill>
            <a:srgbClr val="0D0C1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23" name="Google Shape;323;g2f0967dc895_0_116"/>
          <p:cNvSpPr/>
          <p:nvPr/>
        </p:nvSpPr>
        <p:spPr>
          <a:xfrm>
            <a:off x="11163010" y="3113467"/>
            <a:ext cx="39" cy="39"/>
          </a:xfrm>
          <a:custGeom>
            <a:rect b="b" l="l" r="r" t="t"/>
            <a:pathLst>
              <a:path extrusionOk="0" h="1" w="1">
                <a:moveTo>
                  <a:pt x="0" y="0"/>
                </a:moveTo>
                <a:cubicBezTo>
                  <a:pt x="0" y="0"/>
                  <a:pt x="0" y="0"/>
                  <a:pt x="0" y="0"/>
                </a:cubicBezTo>
                <a:cubicBezTo>
                  <a:pt x="0" y="0"/>
                  <a:pt x="0" y="0"/>
                  <a:pt x="0" y="0"/>
                </a:cubicBezTo>
                <a:close/>
              </a:path>
            </a:pathLst>
          </a:cu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24" name="Google Shape;324;g2f0967dc895_0_116"/>
          <p:cNvSpPr/>
          <p:nvPr/>
        </p:nvSpPr>
        <p:spPr>
          <a:xfrm>
            <a:off x="11233929" y="3035064"/>
            <a:ext cx="39" cy="39"/>
          </a:xfrm>
          <a:custGeom>
            <a:rect b="b" l="l" r="r" t="t"/>
            <a:pathLst>
              <a:path extrusionOk="0" h="1" w="1">
                <a:moveTo>
                  <a:pt x="0" y="0"/>
                </a:moveTo>
                <a:lnTo>
                  <a:pt x="0" y="0"/>
                </a:lnTo>
                <a:cubicBezTo>
                  <a:pt x="0" y="0"/>
                  <a:pt x="0" y="0"/>
                  <a:pt x="0" y="0"/>
                </a:cubicBezTo>
                <a:close/>
              </a:path>
            </a:pathLst>
          </a:cu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25" name="Google Shape;325;g2f0967dc895_0_116"/>
          <p:cNvSpPr/>
          <p:nvPr/>
        </p:nvSpPr>
        <p:spPr>
          <a:xfrm>
            <a:off x="11126902" y="3113467"/>
            <a:ext cx="39" cy="39"/>
          </a:xfrm>
          <a:custGeom>
            <a:rect b="b" l="l" r="r" t="t"/>
            <a:pathLst>
              <a:path extrusionOk="0" h="1" w="1">
                <a:moveTo>
                  <a:pt x="1" y="0"/>
                </a:moveTo>
                <a:cubicBezTo>
                  <a:pt x="1" y="0"/>
                  <a:pt x="1" y="0"/>
                  <a:pt x="1" y="0"/>
                </a:cubicBezTo>
                <a:cubicBezTo>
                  <a:pt x="1" y="0"/>
                  <a:pt x="1" y="0"/>
                  <a:pt x="1" y="0"/>
                </a:cubicBezTo>
                <a:close/>
              </a:path>
            </a:pathLst>
          </a:cu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26" name="Google Shape;326;g2f0967dc895_0_116"/>
          <p:cNvSpPr txBox="1"/>
          <p:nvPr/>
        </p:nvSpPr>
        <p:spPr>
          <a:xfrm>
            <a:off x="1544168" y="4711283"/>
            <a:ext cx="1556400" cy="8175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US" sz="1300">
                <a:latin typeface="Montserrat"/>
                <a:ea typeface="Montserrat"/>
                <a:cs typeface="Montserrat"/>
                <a:sym typeface="Montserrat"/>
              </a:rPr>
              <a:t>Autoregressive Language Models</a:t>
            </a:r>
            <a:endParaRPr sz="1300">
              <a:latin typeface="Montserrat"/>
              <a:ea typeface="Montserrat"/>
              <a:cs typeface="Montserrat"/>
              <a:sym typeface="Montserrat"/>
            </a:endParaRPr>
          </a:p>
        </p:txBody>
      </p:sp>
      <p:sp>
        <p:nvSpPr>
          <p:cNvPr id="327" name="Google Shape;327;g2f0967dc895_0_116"/>
          <p:cNvSpPr txBox="1"/>
          <p:nvPr/>
        </p:nvSpPr>
        <p:spPr>
          <a:xfrm>
            <a:off x="1544185" y="3323833"/>
            <a:ext cx="1556400" cy="10185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US" sz="8000">
                <a:solidFill>
                  <a:srgbClr val="5BCFC5"/>
                </a:solidFill>
                <a:latin typeface="Fira Sans Medium"/>
                <a:ea typeface="Fira Sans Medium"/>
                <a:cs typeface="Fira Sans Medium"/>
                <a:sym typeface="Fira Sans Medium"/>
              </a:rPr>
              <a:t>1</a:t>
            </a:r>
            <a:endParaRPr sz="8000">
              <a:solidFill>
                <a:srgbClr val="5BCFC5"/>
              </a:solidFill>
              <a:latin typeface="Fira Sans Medium"/>
              <a:ea typeface="Fira Sans Medium"/>
              <a:cs typeface="Fira Sans Medium"/>
              <a:sym typeface="Fira Sans Medium"/>
            </a:endParaRPr>
          </a:p>
        </p:txBody>
      </p:sp>
      <p:sp>
        <p:nvSpPr>
          <p:cNvPr id="328" name="Google Shape;328;g2f0967dc895_0_116"/>
          <p:cNvSpPr txBox="1"/>
          <p:nvPr/>
        </p:nvSpPr>
        <p:spPr>
          <a:xfrm>
            <a:off x="3564919" y="2396317"/>
            <a:ext cx="1556400" cy="8175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US" sz="1500">
                <a:latin typeface="Montserrat"/>
                <a:ea typeface="Montserrat"/>
                <a:cs typeface="Montserrat"/>
                <a:sym typeface="Montserrat"/>
              </a:rPr>
              <a:t>Encoder-</a:t>
            </a:r>
            <a:endParaRPr sz="1500">
              <a:latin typeface="Montserrat"/>
              <a:ea typeface="Montserrat"/>
              <a:cs typeface="Montserrat"/>
              <a:sym typeface="Montserrat"/>
            </a:endParaRPr>
          </a:p>
          <a:p>
            <a:pPr indent="0" lvl="0" marL="0" rtl="0" algn="ctr">
              <a:spcBef>
                <a:spcPts val="0"/>
              </a:spcBef>
              <a:spcAft>
                <a:spcPts val="0"/>
              </a:spcAft>
              <a:buNone/>
            </a:pPr>
            <a:r>
              <a:rPr lang="en-US" sz="1500">
                <a:latin typeface="Montserrat"/>
                <a:ea typeface="Montserrat"/>
                <a:cs typeface="Montserrat"/>
                <a:sym typeface="Montserrat"/>
              </a:rPr>
              <a:t>decoder Models</a:t>
            </a:r>
            <a:endParaRPr sz="1500">
              <a:latin typeface="Montserrat"/>
              <a:ea typeface="Montserrat"/>
              <a:cs typeface="Montserrat"/>
              <a:sym typeface="Montserrat"/>
            </a:endParaRPr>
          </a:p>
        </p:txBody>
      </p:sp>
      <p:sp>
        <p:nvSpPr>
          <p:cNvPr id="329" name="Google Shape;329;g2f0967dc895_0_116"/>
          <p:cNvSpPr txBox="1"/>
          <p:nvPr/>
        </p:nvSpPr>
        <p:spPr>
          <a:xfrm>
            <a:off x="5497566" y="4711283"/>
            <a:ext cx="1556400" cy="8175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US" sz="1500">
                <a:latin typeface="Montserrat"/>
                <a:ea typeface="Montserrat"/>
                <a:cs typeface="Montserrat"/>
                <a:sym typeface="Montserrat"/>
              </a:rPr>
              <a:t>Transformer-Based Models</a:t>
            </a:r>
            <a:endParaRPr sz="1500">
              <a:latin typeface="Montserrat"/>
              <a:ea typeface="Montserrat"/>
              <a:cs typeface="Montserrat"/>
              <a:sym typeface="Montserrat"/>
            </a:endParaRPr>
          </a:p>
        </p:txBody>
      </p:sp>
      <p:sp>
        <p:nvSpPr>
          <p:cNvPr id="330" name="Google Shape;330;g2f0967dc895_0_116"/>
          <p:cNvSpPr txBox="1"/>
          <p:nvPr/>
        </p:nvSpPr>
        <p:spPr>
          <a:xfrm>
            <a:off x="7424640" y="2396317"/>
            <a:ext cx="1556400" cy="8175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US" sz="1500">
                <a:latin typeface="Montserrat"/>
                <a:ea typeface="Montserrat"/>
                <a:cs typeface="Montserrat"/>
                <a:sym typeface="Montserrat"/>
              </a:rPr>
              <a:t>Pre-trained &amp; Fine-tuned Models</a:t>
            </a:r>
            <a:endParaRPr sz="1500">
              <a:latin typeface="Montserrat"/>
              <a:ea typeface="Montserrat"/>
              <a:cs typeface="Montserrat"/>
              <a:sym typeface="Montserrat"/>
            </a:endParaRPr>
          </a:p>
        </p:txBody>
      </p:sp>
      <p:sp>
        <p:nvSpPr>
          <p:cNvPr id="331" name="Google Shape;331;g2f0967dc895_0_116"/>
          <p:cNvSpPr txBox="1"/>
          <p:nvPr/>
        </p:nvSpPr>
        <p:spPr>
          <a:xfrm>
            <a:off x="9411765" y="4711283"/>
            <a:ext cx="1556400" cy="8175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US" sz="1500">
                <a:latin typeface="Montserrat"/>
                <a:ea typeface="Montserrat"/>
                <a:cs typeface="Montserrat"/>
                <a:sym typeface="Montserrat"/>
              </a:rPr>
              <a:t>Multilingual Models</a:t>
            </a:r>
            <a:endParaRPr sz="1500">
              <a:latin typeface="Montserrat"/>
              <a:ea typeface="Montserrat"/>
              <a:cs typeface="Montserrat"/>
              <a:sym typeface="Montserrat"/>
            </a:endParaRPr>
          </a:p>
        </p:txBody>
      </p:sp>
      <p:sp>
        <p:nvSpPr>
          <p:cNvPr id="332" name="Google Shape;332;g2f0967dc895_0_116"/>
          <p:cNvSpPr txBox="1"/>
          <p:nvPr/>
        </p:nvSpPr>
        <p:spPr>
          <a:xfrm>
            <a:off x="3554315" y="3323833"/>
            <a:ext cx="1556400" cy="10185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US" sz="8000">
                <a:solidFill>
                  <a:srgbClr val="5BCFC5"/>
                </a:solidFill>
                <a:latin typeface="Fira Sans Medium"/>
                <a:ea typeface="Fira Sans Medium"/>
                <a:cs typeface="Fira Sans Medium"/>
                <a:sym typeface="Fira Sans Medium"/>
              </a:rPr>
              <a:t>2</a:t>
            </a:r>
            <a:endParaRPr sz="8000">
              <a:solidFill>
                <a:srgbClr val="5BCFC5"/>
              </a:solidFill>
              <a:latin typeface="Fira Sans Medium"/>
              <a:ea typeface="Fira Sans Medium"/>
              <a:cs typeface="Fira Sans Medium"/>
              <a:sym typeface="Fira Sans Medium"/>
            </a:endParaRPr>
          </a:p>
        </p:txBody>
      </p:sp>
      <p:sp>
        <p:nvSpPr>
          <p:cNvPr id="333" name="Google Shape;333;g2f0967dc895_0_116"/>
          <p:cNvSpPr txBox="1"/>
          <p:nvPr/>
        </p:nvSpPr>
        <p:spPr>
          <a:xfrm>
            <a:off x="5497569" y="3323833"/>
            <a:ext cx="1556400" cy="10185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US" sz="8000">
                <a:solidFill>
                  <a:srgbClr val="5BCFC5"/>
                </a:solidFill>
                <a:latin typeface="Fira Sans Medium"/>
                <a:ea typeface="Fira Sans Medium"/>
                <a:cs typeface="Fira Sans Medium"/>
                <a:sym typeface="Fira Sans Medium"/>
              </a:rPr>
              <a:t>3</a:t>
            </a:r>
            <a:endParaRPr sz="8000">
              <a:solidFill>
                <a:srgbClr val="5BCFC5"/>
              </a:solidFill>
              <a:latin typeface="Fira Sans Medium"/>
              <a:ea typeface="Fira Sans Medium"/>
              <a:cs typeface="Fira Sans Medium"/>
              <a:sym typeface="Fira Sans Medium"/>
            </a:endParaRPr>
          </a:p>
        </p:txBody>
      </p:sp>
      <p:sp>
        <p:nvSpPr>
          <p:cNvPr id="334" name="Google Shape;334;g2f0967dc895_0_116"/>
          <p:cNvSpPr txBox="1"/>
          <p:nvPr/>
        </p:nvSpPr>
        <p:spPr>
          <a:xfrm>
            <a:off x="7424645" y="3323833"/>
            <a:ext cx="1556400" cy="10185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US" sz="8000">
                <a:solidFill>
                  <a:srgbClr val="5BCFC5"/>
                </a:solidFill>
                <a:latin typeface="Fira Sans Medium"/>
                <a:ea typeface="Fira Sans Medium"/>
                <a:cs typeface="Fira Sans Medium"/>
                <a:sym typeface="Fira Sans Medium"/>
              </a:rPr>
              <a:t>4</a:t>
            </a:r>
            <a:endParaRPr sz="8000">
              <a:solidFill>
                <a:srgbClr val="5BCFC5"/>
              </a:solidFill>
              <a:latin typeface="Fira Sans Medium"/>
              <a:ea typeface="Fira Sans Medium"/>
              <a:cs typeface="Fira Sans Medium"/>
              <a:sym typeface="Fira Sans Medium"/>
            </a:endParaRPr>
          </a:p>
        </p:txBody>
      </p:sp>
      <p:sp>
        <p:nvSpPr>
          <p:cNvPr id="335" name="Google Shape;335;g2f0967dc895_0_116"/>
          <p:cNvSpPr txBox="1"/>
          <p:nvPr/>
        </p:nvSpPr>
        <p:spPr>
          <a:xfrm>
            <a:off x="9411771" y="3323833"/>
            <a:ext cx="1556400" cy="1018500"/>
          </a:xfrm>
          <a:prstGeom prst="rect">
            <a:avLst/>
          </a:prstGeom>
          <a:no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lang="en-US" sz="8000">
                <a:solidFill>
                  <a:srgbClr val="5BCFC5"/>
                </a:solidFill>
                <a:latin typeface="Fira Sans Medium"/>
                <a:ea typeface="Fira Sans Medium"/>
                <a:cs typeface="Fira Sans Medium"/>
                <a:sym typeface="Fira Sans Medium"/>
              </a:rPr>
              <a:t>5</a:t>
            </a:r>
            <a:endParaRPr sz="8000">
              <a:solidFill>
                <a:srgbClr val="5BCFC5"/>
              </a:solidFill>
              <a:latin typeface="Fira Sans Medium"/>
              <a:ea typeface="Fira Sans Medium"/>
              <a:cs typeface="Fira Sans Medium"/>
              <a:sym typeface="Fira Sans Medium"/>
            </a:endParaRPr>
          </a:p>
        </p:txBody>
      </p:sp>
      <p:sp>
        <p:nvSpPr>
          <p:cNvPr id="336" name="Google Shape;336;g2f0967dc895_0_116"/>
          <p:cNvSpPr/>
          <p:nvPr/>
        </p:nvSpPr>
        <p:spPr>
          <a:xfrm>
            <a:off x="1311572" y="2980347"/>
            <a:ext cx="77166" cy="77224"/>
          </a:xfrm>
          <a:custGeom>
            <a:rect b="b" l="l" r="r" t="t"/>
            <a:pathLst>
              <a:path extrusionOk="0" h="1965" w="1964">
                <a:moveTo>
                  <a:pt x="982" y="1"/>
                </a:moveTo>
                <a:cubicBezTo>
                  <a:pt x="444" y="1"/>
                  <a:pt x="0" y="444"/>
                  <a:pt x="0" y="982"/>
                </a:cubicBezTo>
                <a:cubicBezTo>
                  <a:pt x="0" y="1521"/>
                  <a:pt x="444" y="1964"/>
                  <a:pt x="982" y="1964"/>
                </a:cubicBezTo>
                <a:cubicBezTo>
                  <a:pt x="1520" y="1964"/>
                  <a:pt x="1964" y="1521"/>
                  <a:pt x="1964" y="982"/>
                </a:cubicBezTo>
                <a:cubicBezTo>
                  <a:pt x="1964" y="444"/>
                  <a:pt x="1520" y="1"/>
                  <a:pt x="982" y="1"/>
                </a:cubicBezTo>
                <a:close/>
              </a:path>
            </a:pathLst>
          </a:custGeom>
          <a:solidFill>
            <a:srgbClr val="5BCFC5"/>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g2f0967dc895_0_120"/>
          <p:cNvSpPr txBox="1"/>
          <p:nvPr/>
        </p:nvSpPr>
        <p:spPr>
          <a:xfrm>
            <a:off x="3076575" y="3013500"/>
            <a:ext cx="6096000" cy="1569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lang="en-US" sz="4800">
                <a:solidFill>
                  <a:schemeClr val="lt1"/>
                </a:solidFill>
                <a:latin typeface="Montserrat"/>
                <a:ea typeface="Montserrat"/>
                <a:cs typeface="Montserrat"/>
                <a:sym typeface="Montserrat"/>
              </a:rPr>
              <a:t>Applications of LLM</a:t>
            </a:r>
            <a:endParaRPr b="1" i="0" sz="48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g2f0967dc895_0_124"/>
          <p:cNvSpPr txBox="1"/>
          <p:nvPr/>
        </p:nvSpPr>
        <p:spPr>
          <a:xfrm flipH="1">
            <a:off x="467500" y="207825"/>
            <a:ext cx="9520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1" lang="en-US" sz="2400">
                <a:solidFill>
                  <a:srgbClr val="675AB9"/>
                </a:solidFill>
                <a:latin typeface="Montserrat"/>
                <a:ea typeface="Montserrat"/>
                <a:cs typeface="Montserrat"/>
                <a:sym typeface="Montserrat"/>
              </a:rPr>
              <a:t>Applications of LLM</a:t>
            </a:r>
            <a:endParaRPr b="1" sz="2400">
              <a:solidFill>
                <a:srgbClr val="675AB9"/>
              </a:solidFill>
              <a:latin typeface="Montserrat"/>
              <a:ea typeface="Montserrat"/>
              <a:cs typeface="Montserrat"/>
              <a:sym typeface="Montserrat"/>
            </a:endParaRPr>
          </a:p>
        </p:txBody>
      </p:sp>
      <p:sp>
        <p:nvSpPr>
          <p:cNvPr id="347" name="Google Shape;347;g2f0967dc895_0_124"/>
          <p:cNvSpPr txBox="1"/>
          <p:nvPr/>
        </p:nvSpPr>
        <p:spPr>
          <a:xfrm>
            <a:off x="1061896" y="2493786"/>
            <a:ext cx="3007200" cy="8289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Font typeface="Montserrat"/>
              <a:buAutoNum type="arabicPeriod"/>
            </a:pPr>
            <a:r>
              <a:rPr lang="en-US" sz="1500">
                <a:latin typeface="Montserrat"/>
                <a:ea typeface="Montserrat"/>
                <a:cs typeface="Montserrat"/>
                <a:sym typeface="Montserrat"/>
              </a:rPr>
              <a:t>Generation</a:t>
            </a:r>
            <a:endParaRPr sz="1500">
              <a:latin typeface="Montserrat"/>
              <a:ea typeface="Montserrat"/>
              <a:cs typeface="Montserrat"/>
              <a:sym typeface="Montserrat"/>
            </a:endParaRPr>
          </a:p>
          <a:p>
            <a:pPr indent="-323850" lvl="0" marL="457200" rtl="0" algn="l">
              <a:lnSpc>
                <a:spcPct val="150000"/>
              </a:lnSpc>
              <a:spcBef>
                <a:spcPts val="0"/>
              </a:spcBef>
              <a:spcAft>
                <a:spcPts val="0"/>
              </a:spcAft>
              <a:buSzPts val="1500"/>
              <a:buFont typeface="Montserrat"/>
              <a:buAutoNum type="arabicPeriod"/>
            </a:pPr>
            <a:r>
              <a:rPr lang="en-US" sz="1500">
                <a:latin typeface="Montserrat"/>
                <a:ea typeface="Montserrat"/>
                <a:cs typeface="Montserrat"/>
                <a:sym typeface="Montserrat"/>
              </a:rPr>
              <a:t>Summarization</a:t>
            </a:r>
            <a:endParaRPr sz="1500">
              <a:latin typeface="Montserrat"/>
              <a:ea typeface="Montserrat"/>
              <a:cs typeface="Montserrat"/>
              <a:sym typeface="Montserrat"/>
            </a:endParaRPr>
          </a:p>
          <a:p>
            <a:pPr indent="-323850" lvl="0" marL="457200" rtl="0" algn="l">
              <a:lnSpc>
                <a:spcPct val="150000"/>
              </a:lnSpc>
              <a:spcBef>
                <a:spcPts val="0"/>
              </a:spcBef>
              <a:spcAft>
                <a:spcPts val="0"/>
              </a:spcAft>
              <a:buSzPts val="1500"/>
              <a:buFont typeface="Montserrat"/>
              <a:buAutoNum type="arabicPeriod"/>
            </a:pPr>
            <a:r>
              <a:rPr lang="en-US" sz="1500">
                <a:latin typeface="Montserrat"/>
                <a:ea typeface="Montserrat"/>
                <a:cs typeface="Montserrat"/>
                <a:sym typeface="Montserrat"/>
              </a:rPr>
              <a:t>Sentiment Analysis</a:t>
            </a:r>
            <a:endParaRPr sz="1500">
              <a:latin typeface="Montserrat"/>
              <a:ea typeface="Montserrat"/>
              <a:cs typeface="Montserrat"/>
              <a:sym typeface="Montserrat"/>
            </a:endParaRPr>
          </a:p>
        </p:txBody>
      </p:sp>
      <p:sp>
        <p:nvSpPr>
          <p:cNvPr id="348" name="Google Shape;348;g2f0967dc895_0_124"/>
          <p:cNvSpPr txBox="1"/>
          <p:nvPr/>
        </p:nvSpPr>
        <p:spPr>
          <a:xfrm>
            <a:off x="1601861" y="1582387"/>
            <a:ext cx="2225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57A6FF"/>
                </a:solidFill>
                <a:latin typeface="Montserrat"/>
                <a:ea typeface="Montserrat"/>
                <a:cs typeface="Montserrat"/>
                <a:sym typeface="Montserrat"/>
              </a:rPr>
              <a:t>NLP</a:t>
            </a:r>
            <a:endParaRPr b="1" sz="1500">
              <a:solidFill>
                <a:srgbClr val="57A6FF"/>
              </a:solidFill>
              <a:latin typeface="Montserrat"/>
              <a:ea typeface="Montserrat"/>
              <a:cs typeface="Montserrat"/>
              <a:sym typeface="Montserrat"/>
            </a:endParaRPr>
          </a:p>
        </p:txBody>
      </p:sp>
      <p:sp>
        <p:nvSpPr>
          <p:cNvPr id="349" name="Google Shape;349;g2f0967dc895_0_124"/>
          <p:cNvSpPr txBox="1"/>
          <p:nvPr/>
        </p:nvSpPr>
        <p:spPr>
          <a:xfrm>
            <a:off x="5176653" y="1568050"/>
            <a:ext cx="1754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57A6FF"/>
                </a:solidFill>
                <a:latin typeface="Montserrat"/>
                <a:ea typeface="Montserrat"/>
                <a:cs typeface="Montserrat"/>
                <a:sym typeface="Montserrat"/>
              </a:rPr>
              <a:t>Conversational Agents</a:t>
            </a:r>
            <a:endParaRPr b="1" sz="1500">
              <a:solidFill>
                <a:srgbClr val="57A6FF"/>
              </a:solidFill>
              <a:latin typeface="Montserrat"/>
              <a:ea typeface="Montserrat"/>
              <a:cs typeface="Montserrat"/>
              <a:sym typeface="Montserrat"/>
            </a:endParaRPr>
          </a:p>
        </p:txBody>
      </p:sp>
      <p:sp>
        <p:nvSpPr>
          <p:cNvPr id="350" name="Google Shape;350;g2f0967dc895_0_124"/>
          <p:cNvSpPr txBox="1"/>
          <p:nvPr/>
        </p:nvSpPr>
        <p:spPr>
          <a:xfrm>
            <a:off x="4560061" y="2501850"/>
            <a:ext cx="2842200" cy="8289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Font typeface="Montserrat"/>
              <a:buAutoNum type="arabicPeriod"/>
            </a:pPr>
            <a:r>
              <a:rPr lang="en-US" sz="1500">
                <a:latin typeface="Montserrat"/>
                <a:ea typeface="Montserrat"/>
                <a:cs typeface="Montserrat"/>
                <a:sym typeface="Montserrat"/>
              </a:rPr>
              <a:t>Customer Service </a:t>
            </a:r>
            <a:endParaRPr sz="1500">
              <a:latin typeface="Montserrat"/>
              <a:ea typeface="Montserrat"/>
              <a:cs typeface="Montserrat"/>
              <a:sym typeface="Montserrat"/>
            </a:endParaRPr>
          </a:p>
          <a:p>
            <a:pPr indent="-323850" lvl="0" marL="457200" rtl="0" algn="l">
              <a:lnSpc>
                <a:spcPct val="150000"/>
              </a:lnSpc>
              <a:spcBef>
                <a:spcPts val="0"/>
              </a:spcBef>
              <a:spcAft>
                <a:spcPts val="0"/>
              </a:spcAft>
              <a:buSzPts val="1500"/>
              <a:buFont typeface="Montserrat"/>
              <a:buAutoNum type="arabicPeriod"/>
            </a:pPr>
            <a:r>
              <a:rPr lang="en-US" sz="1500">
                <a:latin typeface="Montserrat"/>
                <a:ea typeface="Montserrat"/>
                <a:cs typeface="Montserrat"/>
                <a:sym typeface="Montserrat"/>
              </a:rPr>
              <a:t>Virtual Assistants </a:t>
            </a:r>
            <a:endParaRPr sz="1500">
              <a:latin typeface="Montserrat"/>
              <a:ea typeface="Montserrat"/>
              <a:cs typeface="Montserrat"/>
              <a:sym typeface="Montserrat"/>
            </a:endParaRPr>
          </a:p>
        </p:txBody>
      </p:sp>
      <p:sp>
        <p:nvSpPr>
          <p:cNvPr id="351" name="Google Shape;351;g2f0967dc895_0_124"/>
          <p:cNvSpPr/>
          <p:nvPr/>
        </p:nvSpPr>
        <p:spPr>
          <a:xfrm>
            <a:off x="802282" y="1576100"/>
            <a:ext cx="1028700" cy="3906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100"/>
              <a:buFont typeface="Arial"/>
              <a:buNone/>
            </a:pPr>
            <a:r>
              <a:rPr b="1" lang="en-US" sz="3500">
                <a:solidFill>
                  <a:srgbClr val="57A6FF"/>
                </a:solidFill>
                <a:latin typeface="Montserrat"/>
                <a:ea typeface="Montserrat"/>
                <a:cs typeface="Montserrat"/>
                <a:sym typeface="Montserrat"/>
              </a:rPr>
              <a:t>01</a:t>
            </a:r>
            <a:endParaRPr b="1" i="0" sz="3500" u="none" cap="none" strike="noStrike">
              <a:solidFill>
                <a:srgbClr val="57A6FF"/>
              </a:solidFill>
              <a:latin typeface="Montserrat"/>
              <a:ea typeface="Montserrat"/>
              <a:cs typeface="Montserrat"/>
              <a:sym typeface="Montserrat"/>
            </a:endParaRPr>
          </a:p>
        </p:txBody>
      </p:sp>
      <p:sp>
        <p:nvSpPr>
          <p:cNvPr id="352" name="Google Shape;352;g2f0967dc895_0_124"/>
          <p:cNvSpPr/>
          <p:nvPr/>
        </p:nvSpPr>
        <p:spPr>
          <a:xfrm>
            <a:off x="4335027" y="1584167"/>
            <a:ext cx="1028700" cy="3906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100"/>
              <a:buFont typeface="Arial"/>
              <a:buNone/>
            </a:pPr>
            <a:r>
              <a:rPr b="1" lang="en-US" sz="3500">
                <a:solidFill>
                  <a:srgbClr val="57A6FF"/>
                </a:solidFill>
                <a:latin typeface="Montserrat"/>
                <a:ea typeface="Montserrat"/>
                <a:cs typeface="Montserrat"/>
                <a:sym typeface="Montserrat"/>
              </a:rPr>
              <a:t>02</a:t>
            </a:r>
            <a:endParaRPr b="1" i="0" sz="3500" u="none" cap="none" strike="noStrike">
              <a:solidFill>
                <a:srgbClr val="57A6FF"/>
              </a:solidFill>
              <a:latin typeface="Montserrat"/>
              <a:ea typeface="Montserrat"/>
              <a:cs typeface="Montserrat"/>
              <a:sym typeface="Montserrat"/>
            </a:endParaRPr>
          </a:p>
        </p:txBody>
      </p:sp>
      <p:sp>
        <p:nvSpPr>
          <p:cNvPr id="353" name="Google Shape;353;g2f0967dc895_0_124"/>
          <p:cNvSpPr txBox="1"/>
          <p:nvPr/>
        </p:nvSpPr>
        <p:spPr>
          <a:xfrm>
            <a:off x="3022231" y="4764511"/>
            <a:ext cx="3007200" cy="13335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Font typeface="Montserrat"/>
              <a:buAutoNum type="arabicPeriod"/>
            </a:pPr>
            <a:r>
              <a:rPr lang="en-US" sz="1500">
                <a:latin typeface="Montserrat"/>
                <a:ea typeface="Montserrat"/>
                <a:cs typeface="Montserrat"/>
                <a:sym typeface="Montserrat"/>
              </a:rPr>
              <a:t>Personalized Learning</a:t>
            </a:r>
            <a:endParaRPr sz="1500">
              <a:latin typeface="Montserrat"/>
              <a:ea typeface="Montserrat"/>
              <a:cs typeface="Montserrat"/>
              <a:sym typeface="Montserrat"/>
            </a:endParaRPr>
          </a:p>
          <a:p>
            <a:pPr indent="-323850" lvl="0" marL="457200" rtl="0" algn="l">
              <a:lnSpc>
                <a:spcPct val="150000"/>
              </a:lnSpc>
              <a:spcBef>
                <a:spcPts val="0"/>
              </a:spcBef>
              <a:spcAft>
                <a:spcPts val="0"/>
              </a:spcAft>
              <a:buSzPts val="1500"/>
              <a:buFont typeface="Montserrat"/>
              <a:buAutoNum type="arabicPeriod"/>
            </a:pPr>
            <a:r>
              <a:rPr lang="en-US" sz="1500">
                <a:latin typeface="Montserrat"/>
                <a:ea typeface="Montserrat"/>
                <a:cs typeface="Montserrat"/>
                <a:sym typeface="Montserrat"/>
              </a:rPr>
              <a:t>Language Learning</a:t>
            </a:r>
            <a:endParaRPr sz="1500">
              <a:latin typeface="Montserrat"/>
              <a:ea typeface="Montserrat"/>
              <a:cs typeface="Montserrat"/>
              <a:sym typeface="Montserrat"/>
            </a:endParaRPr>
          </a:p>
        </p:txBody>
      </p:sp>
      <p:sp>
        <p:nvSpPr>
          <p:cNvPr id="354" name="Google Shape;354;g2f0967dc895_0_124"/>
          <p:cNvSpPr txBox="1"/>
          <p:nvPr/>
        </p:nvSpPr>
        <p:spPr>
          <a:xfrm>
            <a:off x="3707995" y="4005530"/>
            <a:ext cx="2225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57A6FF"/>
                </a:solidFill>
                <a:latin typeface="Montserrat"/>
                <a:ea typeface="Montserrat"/>
                <a:cs typeface="Montserrat"/>
                <a:sym typeface="Montserrat"/>
              </a:rPr>
              <a:t>Education and Training</a:t>
            </a:r>
            <a:endParaRPr b="1" sz="1500">
              <a:solidFill>
                <a:srgbClr val="57A6FF"/>
              </a:solidFill>
              <a:latin typeface="Montserrat"/>
              <a:ea typeface="Montserrat"/>
              <a:cs typeface="Montserrat"/>
              <a:sym typeface="Montserrat"/>
            </a:endParaRPr>
          </a:p>
        </p:txBody>
      </p:sp>
      <p:sp>
        <p:nvSpPr>
          <p:cNvPr id="355" name="Google Shape;355;g2f0967dc895_0_124"/>
          <p:cNvSpPr/>
          <p:nvPr/>
        </p:nvSpPr>
        <p:spPr>
          <a:xfrm>
            <a:off x="2807430" y="3999243"/>
            <a:ext cx="1028700" cy="3906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100"/>
              <a:buFont typeface="Arial"/>
              <a:buNone/>
            </a:pPr>
            <a:r>
              <a:rPr b="1" lang="en-US" sz="3500">
                <a:solidFill>
                  <a:srgbClr val="57A6FF"/>
                </a:solidFill>
                <a:latin typeface="Montserrat"/>
                <a:ea typeface="Montserrat"/>
                <a:cs typeface="Montserrat"/>
                <a:sym typeface="Montserrat"/>
              </a:rPr>
              <a:t>04</a:t>
            </a:r>
            <a:endParaRPr b="1" i="0" sz="3500" u="none" cap="none" strike="noStrike">
              <a:solidFill>
                <a:srgbClr val="57A6FF"/>
              </a:solidFill>
              <a:latin typeface="Montserrat"/>
              <a:ea typeface="Montserrat"/>
              <a:cs typeface="Montserrat"/>
              <a:sym typeface="Montserrat"/>
            </a:endParaRPr>
          </a:p>
        </p:txBody>
      </p:sp>
      <p:sp>
        <p:nvSpPr>
          <p:cNvPr id="356" name="Google Shape;356;g2f0967dc895_0_124"/>
          <p:cNvSpPr txBox="1"/>
          <p:nvPr/>
        </p:nvSpPr>
        <p:spPr>
          <a:xfrm>
            <a:off x="8129125" y="2453850"/>
            <a:ext cx="3142800" cy="13335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Font typeface="Montserrat"/>
              <a:buAutoNum type="arabicPeriod"/>
            </a:pPr>
            <a:r>
              <a:rPr lang="en-US" sz="1500">
                <a:latin typeface="Montserrat"/>
                <a:ea typeface="Montserrat"/>
                <a:cs typeface="Montserrat"/>
                <a:sym typeface="Montserrat"/>
              </a:rPr>
              <a:t>Copywriting</a:t>
            </a:r>
            <a:endParaRPr sz="1500">
              <a:latin typeface="Montserrat"/>
              <a:ea typeface="Montserrat"/>
              <a:cs typeface="Montserrat"/>
              <a:sym typeface="Montserrat"/>
            </a:endParaRPr>
          </a:p>
          <a:p>
            <a:pPr indent="-323850" lvl="0" marL="457200" rtl="0" algn="l">
              <a:lnSpc>
                <a:spcPct val="150000"/>
              </a:lnSpc>
              <a:spcBef>
                <a:spcPts val="0"/>
              </a:spcBef>
              <a:spcAft>
                <a:spcPts val="0"/>
              </a:spcAft>
              <a:buSzPts val="1500"/>
              <a:buFont typeface="Montserrat"/>
              <a:buAutoNum type="arabicPeriod"/>
            </a:pPr>
            <a:r>
              <a:rPr lang="en-US" sz="1500">
                <a:latin typeface="Montserrat"/>
                <a:ea typeface="Montserrat"/>
                <a:cs typeface="Montserrat"/>
                <a:sym typeface="Montserrat"/>
              </a:rPr>
              <a:t>Script Writing</a:t>
            </a:r>
            <a:endParaRPr sz="1500">
              <a:latin typeface="Montserrat"/>
              <a:ea typeface="Montserrat"/>
              <a:cs typeface="Montserrat"/>
              <a:sym typeface="Montserrat"/>
            </a:endParaRPr>
          </a:p>
          <a:p>
            <a:pPr indent="-323850" lvl="0" marL="457200" rtl="0" algn="l">
              <a:lnSpc>
                <a:spcPct val="150000"/>
              </a:lnSpc>
              <a:spcBef>
                <a:spcPts val="0"/>
              </a:spcBef>
              <a:spcAft>
                <a:spcPts val="0"/>
              </a:spcAft>
              <a:buSzPts val="1500"/>
              <a:buFont typeface="Montserrat"/>
              <a:buAutoNum type="arabicPeriod"/>
            </a:pPr>
            <a:r>
              <a:rPr lang="en-US" sz="1500">
                <a:latin typeface="Montserrat"/>
                <a:ea typeface="Montserrat"/>
                <a:cs typeface="Montserrat"/>
                <a:sym typeface="Montserrat"/>
              </a:rPr>
              <a:t>Story Writing</a:t>
            </a:r>
            <a:endParaRPr sz="1500">
              <a:latin typeface="Montserrat"/>
              <a:ea typeface="Montserrat"/>
              <a:cs typeface="Montserrat"/>
              <a:sym typeface="Montserrat"/>
            </a:endParaRPr>
          </a:p>
        </p:txBody>
      </p:sp>
      <p:sp>
        <p:nvSpPr>
          <p:cNvPr id="357" name="Google Shape;357;g2f0967dc895_0_124"/>
          <p:cNvSpPr txBox="1"/>
          <p:nvPr/>
        </p:nvSpPr>
        <p:spPr>
          <a:xfrm>
            <a:off x="8793548" y="1576658"/>
            <a:ext cx="2225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57A6FF"/>
                </a:solidFill>
                <a:latin typeface="Montserrat"/>
                <a:ea typeface="Montserrat"/>
                <a:cs typeface="Montserrat"/>
                <a:sym typeface="Montserrat"/>
              </a:rPr>
              <a:t>Content Creation</a:t>
            </a:r>
            <a:endParaRPr b="1" sz="1500">
              <a:solidFill>
                <a:srgbClr val="57A6FF"/>
              </a:solidFill>
              <a:latin typeface="Montserrat"/>
              <a:ea typeface="Montserrat"/>
              <a:cs typeface="Montserrat"/>
              <a:sym typeface="Montserrat"/>
            </a:endParaRPr>
          </a:p>
        </p:txBody>
      </p:sp>
      <p:sp>
        <p:nvSpPr>
          <p:cNvPr id="358" name="Google Shape;358;g2f0967dc895_0_124"/>
          <p:cNvSpPr/>
          <p:nvPr/>
        </p:nvSpPr>
        <p:spPr>
          <a:xfrm>
            <a:off x="7892982" y="1570371"/>
            <a:ext cx="1028700" cy="3906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100"/>
              <a:buFont typeface="Arial"/>
              <a:buNone/>
            </a:pPr>
            <a:r>
              <a:rPr b="1" lang="en-US" sz="3500">
                <a:solidFill>
                  <a:srgbClr val="57A6FF"/>
                </a:solidFill>
                <a:latin typeface="Montserrat"/>
                <a:ea typeface="Montserrat"/>
                <a:cs typeface="Montserrat"/>
                <a:sym typeface="Montserrat"/>
              </a:rPr>
              <a:t>03</a:t>
            </a:r>
            <a:endParaRPr b="1" i="0" sz="3500" u="none" cap="none" strike="noStrike">
              <a:solidFill>
                <a:srgbClr val="57A6FF"/>
              </a:solidFill>
              <a:latin typeface="Montserrat"/>
              <a:ea typeface="Montserrat"/>
              <a:cs typeface="Montserrat"/>
              <a:sym typeface="Montserrat"/>
            </a:endParaRPr>
          </a:p>
        </p:txBody>
      </p:sp>
      <p:sp>
        <p:nvSpPr>
          <p:cNvPr id="359" name="Google Shape;359;g2f0967dc895_0_124"/>
          <p:cNvSpPr txBox="1"/>
          <p:nvPr/>
        </p:nvSpPr>
        <p:spPr>
          <a:xfrm>
            <a:off x="6423180" y="4770786"/>
            <a:ext cx="3007200" cy="13335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Font typeface="Montserrat"/>
              <a:buAutoNum type="arabicPeriod"/>
            </a:pPr>
            <a:r>
              <a:rPr lang="en-US" sz="1500">
                <a:latin typeface="Montserrat"/>
                <a:ea typeface="Montserrat"/>
                <a:cs typeface="Montserrat"/>
                <a:sym typeface="Montserrat"/>
              </a:rPr>
              <a:t>Diagnostic Assistance</a:t>
            </a:r>
            <a:endParaRPr sz="1500">
              <a:latin typeface="Montserrat"/>
              <a:ea typeface="Montserrat"/>
              <a:cs typeface="Montserrat"/>
              <a:sym typeface="Montserrat"/>
            </a:endParaRPr>
          </a:p>
          <a:p>
            <a:pPr indent="-323850" lvl="0" marL="457200" rtl="0" algn="l">
              <a:lnSpc>
                <a:spcPct val="150000"/>
              </a:lnSpc>
              <a:spcBef>
                <a:spcPts val="0"/>
              </a:spcBef>
              <a:spcAft>
                <a:spcPts val="0"/>
              </a:spcAft>
              <a:buSzPts val="1500"/>
              <a:buFont typeface="Montserrat"/>
              <a:buAutoNum type="arabicPeriod"/>
            </a:pPr>
            <a:r>
              <a:rPr lang="en-US" sz="1500">
                <a:latin typeface="Montserrat"/>
                <a:ea typeface="Montserrat"/>
                <a:cs typeface="Montserrat"/>
                <a:sym typeface="Montserrat"/>
              </a:rPr>
              <a:t>Medical Record Summarization</a:t>
            </a:r>
            <a:endParaRPr sz="1500">
              <a:latin typeface="Montserrat"/>
              <a:ea typeface="Montserrat"/>
              <a:cs typeface="Montserrat"/>
              <a:sym typeface="Montserrat"/>
            </a:endParaRPr>
          </a:p>
        </p:txBody>
      </p:sp>
      <p:sp>
        <p:nvSpPr>
          <p:cNvPr id="360" name="Google Shape;360;g2f0967dc895_0_124"/>
          <p:cNvSpPr txBox="1"/>
          <p:nvPr/>
        </p:nvSpPr>
        <p:spPr>
          <a:xfrm>
            <a:off x="7108951" y="4011800"/>
            <a:ext cx="2521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57A6FF"/>
                </a:solidFill>
                <a:latin typeface="Montserrat"/>
                <a:ea typeface="Montserrat"/>
                <a:cs typeface="Montserrat"/>
                <a:sym typeface="Montserrat"/>
              </a:rPr>
              <a:t>Healthcare</a:t>
            </a:r>
            <a:endParaRPr b="1" sz="1500">
              <a:solidFill>
                <a:srgbClr val="57A6FF"/>
              </a:solidFill>
              <a:latin typeface="Montserrat"/>
              <a:ea typeface="Montserrat"/>
              <a:cs typeface="Montserrat"/>
              <a:sym typeface="Montserrat"/>
            </a:endParaRPr>
          </a:p>
        </p:txBody>
      </p:sp>
      <p:sp>
        <p:nvSpPr>
          <p:cNvPr id="361" name="Google Shape;361;g2f0967dc895_0_124"/>
          <p:cNvSpPr/>
          <p:nvPr/>
        </p:nvSpPr>
        <p:spPr>
          <a:xfrm>
            <a:off x="6208379" y="4005518"/>
            <a:ext cx="1028700" cy="3906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100"/>
              <a:buFont typeface="Arial"/>
              <a:buNone/>
            </a:pPr>
            <a:r>
              <a:rPr b="1" lang="en-US" sz="3500">
                <a:solidFill>
                  <a:srgbClr val="57A6FF"/>
                </a:solidFill>
                <a:latin typeface="Montserrat"/>
                <a:ea typeface="Montserrat"/>
                <a:cs typeface="Montserrat"/>
                <a:sym typeface="Montserrat"/>
              </a:rPr>
              <a:t>05</a:t>
            </a:r>
            <a:endParaRPr b="1" i="0" sz="3500" u="none" cap="none" strike="noStrike">
              <a:solidFill>
                <a:srgbClr val="57A6FF"/>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11"/>
          <p:cNvSpPr txBox="1"/>
          <p:nvPr/>
        </p:nvSpPr>
        <p:spPr>
          <a:xfrm>
            <a:off x="2476500" y="2667053"/>
            <a:ext cx="7239000" cy="1569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675AB9"/>
                </a:solidFill>
                <a:latin typeface="Montserrat"/>
                <a:ea typeface="Montserrat"/>
                <a:cs typeface="Montserrat"/>
                <a:sym typeface="Montserrat"/>
              </a:rPr>
              <a:t>Hands-On:</a:t>
            </a:r>
            <a:br>
              <a:rPr b="1" i="0" lang="en-US" sz="4800" u="none" cap="none" strike="noStrike">
                <a:solidFill>
                  <a:srgbClr val="675AB9"/>
                </a:solidFill>
                <a:latin typeface="Montserrat"/>
                <a:ea typeface="Montserrat"/>
                <a:cs typeface="Montserrat"/>
                <a:sym typeface="Montserrat"/>
              </a:rPr>
            </a:br>
            <a:r>
              <a:rPr b="1" lang="en-US" sz="2400">
                <a:solidFill>
                  <a:srgbClr val="675AB9"/>
                </a:solidFill>
                <a:latin typeface="Montserrat"/>
                <a:ea typeface="Montserrat"/>
                <a:cs typeface="Montserrat"/>
                <a:sym typeface="Montserrat"/>
              </a:rPr>
              <a:t>LLM Implementation using Pre-trained Transformers</a:t>
            </a:r>
            <a:endParaRPr b="1" i="0" sz="4800" u="none" cap="none" strike="noStrike">
              <a:solidFill>
                <a:srgbClr val="675AB9"/>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12"/>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2023-10-13T09:16:11Z</dcterms:created>
  <dc:creator>Chinnappa MM</dc:creator>
</cp:coreProperties>
</file>